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02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C64A13-3ADA-41E3-9F31-97F3CA237346}" type="datetimeFigureOut">
              <a:rPr lang="en-US" smtClean="0"/>
              <a:t>9/25/2026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94D122-B504-4748-A622-7E3CCED84D46}" type="slidenum">
              <a:rPr lang="en-US" smtClean="0"/>
              <a:t>‹#›</a:t>
            </a:fld>
            <a:endParaRPr lang="en-US"/>
          </a:p>
        </p:txBody>
      </p:sp>
    </p:spTree>
    <p:extLst>
      <p:ext uri="{BB962C8B-B14F-4D97-AF65-F5344CB8AC3E}">
        <p14:creationId xmlns:p14="http://schemas.microsoft.com/office/powerpoint/2010/main" val="1912036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Mở đầu: đề tài xây dựng một Digital Twin vận hành được trên ThingsBoard Local, bám đúng mạch ESP32 mô phỏng và có kiểm thử định lượng.</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1</a:t>
            </a:fld>
            <a:endParaRPr lang="en-US"/>
          </a:p>
        </p:txBody>
      </p:sp>
    </p:spTree>
    <p:extLst>
      <p:ext uri="{BB962C8B-B14F-4D97-AF65-F5344CB8AC3E}">
        <p14:creationId xmlns:p14="http://schemas.microsoft.com/office/powerpoint/2010/main" val="1436080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Phạm vi bài tập lớn: một kho và một node cảm biến. Trọng tâm là luồng Digital Twin hoàn chỉnh, không phải mô phỏng quy mô sản xuất.</a:t>
            </a:r>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2</a:t>
            </a:fld>
            <a:endParaRPr lang="en-US"/>
          </a:p>
        </p:txBody>
      </p:sp>
    </p:spTree>
    <p:extLst>
      <p:ext uri="{BB962C8B-B14F-4D97-AF65-F5344CB8AC3E}">
        <p14:creationId xmlns:p14="http://schemas.microsoft.com/office/powerpoint/2010/main" val="926456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Nguồn tham chiếu: https://thingsboard.io/docs/pe/concepts/digital-twin-model/ và https://thingsboard.io/docs/pe/user-guide/digital-twins/entities/</a:t>
            </a:r>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3</a:t>
            </a:fld>
            <a:endParaRPr lang="en-US"/>
          </a:p>
        </p:txBody>
      </p:sp>
    </p:spTree>
    <p:extLst>
      <p:ext uri="{BB962C8B-B14F-4D97-AF65-F5344CB8AC3E}">
        <p14:creationId xmlns:p14="http://schemas.microsoft.com/office/powerpoint/2010/main" val="1365342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Luồng chính: cảm biến Wokwi gửi MQTT tới ThingsBoard; Rule Engine chuẩn hóa, cập nhật Asset twin, tạo alarm; dashboard hiển thị và gửi RPC ngược về ESP32.</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4</a:t>
            </a:fld>
            <a:endParaRPr lang="en-US"/>
          </a:p>
        </p:txBody>
      </p:sp>
    </p:spTree>
    <p:extLst>
      <p:ext uri="{BB962C8B-B14F-4D97-AF65-F5344CB8AC3E}">
        <p14:creationId xmlns:p14="http://schemas.microsoft.com/office/powerpoint/2010/main" val="3431479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Mạch chỉ đo nhiệt độ, độ ẩm và chuyển động; LED là cơ cấu chấp hành. Dashboard đã được sửa để không hiển thị dữ liệu giả ngoài khả năng mạch.</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5</a:t>
            </a:fld>
            <a:endParaRPr lang="en-US"/>
          </a:p>
        </p:txBody>
      </p:sp>
    </p:spTree>
    <p:extLst>
      <p:ext uri="{BB962C8B-B14F-4D97-AF65-F5344CB8AC3E}">
        <p14:creationId xmlns:p14="http://schemas.microsoft.com/office/powerpoint/2010/main" val="3766307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Nguồn API: https://thingsboard.io/docs/reference/mqtt-api/. Token thiết bị chỉ nằm trong tệp bí mật, không nằm trong export hoặc slide.</a:t>
            </a:r>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6</a:t>
            </a:fld>
            <a:endParaRPr lang="en-US"/>
          </a:p>
        </p:txBody>
      </p:sp>
    </p:spTree>
    <p:extLst>
      <p:ext uri="{BB962C8B-B14F-4D97-AF65-F5344CB8AC3E}">
        <p14:creationId xmlns:p14="http://schemas.microsoft.com/office/powerpoint/2010/main" val="2667696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Nguồn tham chiếu: https://thingsboard.io/docs/pe/user-guide/digital-twins/relations/. Relation Contains nối Warehouse Asset với ESP32 Device.</a:t>
            </a:r>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7</a:t>
            </a:fld>
            <a:endParaRPr lang="en-US"/>
          </a:p>
        </p:txBody>
      </p:sp>
    </p:spTree>
    <p:extLst>
      <p:ext uri="{BB962C8B-B14F-4D97-AF65-F5344CB8AC3E}">
        <p14:creationId xmlns:p14="http://schemas.microsoft.com/office/powerpoint/2010/main" val="3670787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OFFLINE có ưu tiên cao nhất; sau đó là CRITICAL, WARNING và NORMAL. Mỗi lần cập nhật đều lưu current_state, observed_state, anomaly_type và health_score trên Asset.</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8</a:t>
            </a:fld>
            <a:endParaRPr lang="en-US"/>
          </a:p>
        </p:txBody>
      </p:sp>
    </p:spTree>
    <p:extLst>
      <p:ext uri="{BB962C8B-B14F-4D97-AF65-F5344CB8AC3E}">
        <p14:creationId xmlns:p14="http://schemas.microsoft.com/office/powerpoint/2010/main" val="431606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Có 14 kịch bản được kiểm thử: 13 loại nghiệp vụ/chất lượng dữ liệu và CONNECTION_LOST theo lifecycle timeout.</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9</a:t>
            </a:fld>
            <a:endParaRPr lang="en-US"/>
          </a:p>
        </p:txBody>
      </p:sp>
    </p:spTree>
    <p:extLst>
      <p:ext uri="{BB962C8B-B14F-4D97-AF65-F5344CB8AC3E}">
        <p14:creationId xmlns:p14="http://schemas.microsoft.com/office/powerpoint/2010/main" val="4066276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ThingsBoard CE dùng Rule Engine và script nodes để triển khai logic tương đương mô hình twin; PE có thêm Digital Twin/Calculated Fields và Solution Template đóng gói sẵn.</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10</a:t>
            </a:fld>
            <a:endParaRPr lang="en-US"/>
          </a:p>
        </p:txBody>
      </p:sp>
    </p:spTree>
    <p:extLst>
      <p:ext uri="{BB962C8B-B14F-4D97-AF65-F5344CB8AC3E}">
        <p14:creationId xmlns:p14="http://schemas.microsoft.com/office/powerpoint/2010/main" val="3363307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Dashboard tổ chức theo tư duy template Smart Irrigation: overview, health/state, history, alarms và control; nhưng trường dữ liệu được thay bằng đúng mạch kho rau quả. Nguồn tham khảo: https://thingsboard.io/iot-hub/solution-templates/smart-irrigation/</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11</a:t>
            </a:fld>
            <a:endParaRPr lang="en-US"/>
          </a:p>
        </p:txBody>
      </p:sp>
    </p:spTree>
    <p:extLst>
      <p:ext uri="{BB962C8B-B14F-4D97-AF65-F5344CB8AC3E}">
        <p14:creationId xmlns:p14="http://schemas.microsoft.com/office/powerpoint/2010/main" val="1806127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Người vận hành có thể đối chiếu diễn biến telemetry với alarm, severity và trạng thái của Asset thay vì chỉ nhìn số tức thời.</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12</a:t>
            </a:fld>
            <a:endParaRPr lang="en-US"/>
          </a:p>
        </p:txBody>
      </p:sp>
    </p:spTree>
    <p:extLst>
      <p:ext uri="{BB962C8B-B14F-4D97-AF65-F5344CB8AC3E}">
        <p14:creationId xmlns:p14="http://schemas.microsoft.com/office/powerpoint/2010/main" val="160465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Đây là khác biệt quan trọng giữa dashboard hiển thị và Digital Twin có vòng phản hồi: lệnh điều khiển phải được xác nhận bằng trạng thái quan sát thực tế.</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13</a:t>
            </a:fld>
            <a:endParaRPr lang="en-US"/>
          </a:p>
        </p:txBody>
      </p:sp>
    </p:spTree>
    <p:extLst>
      <p:ext uri="{BB962C8B-B14F-4D97-AF65-F5344CB8AC3E}">
        <p14:creationId xmlns:p14="http://schemas.microsoft.com/office/powerpoint/2010/main" val="1255869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Người thực hiện chủ động dùng smoke test ngắn theo phạm vi bài tập lớn. Kiểm thử 30 phút được giữ là tùy chọn, không được tuyên bố là đã chạy.</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14</a:t>
            </a:fld>
            <a:endParaRPr lang="en-US"/>
          </a:p>
        </p:txBody>
      </p:sp>
    </p:spTree>
    <p:extLst>
      <p:ext uri="{BB962C8B-B14F-4D97-AF65-F5344CB8AC3E}">
        <p14:creationId xmlns:p14="http://schemas.microsoft.com/office/powerpoint/2010/main" val="4116082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Kết quả: 140/140 lượt được phát hiện và tạo alarm đúng; continuity 100%; sequence consistency 100%; connection-loss tối đa 9.888 giây.</a:t>
            </a:r>
            <a:endParaRPr lang="en-US"/>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15</a:t>
            </a:fld>
            <a:endParaRPr lang="en-US"/>
          </a:p>
        </p:txBody>
      </p:sp>
    </p:spTree>
    <p:extLst>
      <p:ext uri="{BB962C8B-B14F-4D97-AF65-F5344CB8AC3E}">
        <p14:creationId xmlns:p14="http://schemas.microsoft.com/office/powerpoint/2010/main" val="25163604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Kết thúc bằng demo trực tiếp. Nếu không có Wokwi live, có thể dùng publisher/test harness để chứng minh pipeline server; không thay thế phần xác nhận LED vật lý trong demo cuối.</a:t>
            </a:r>
          </a:p>
        </p:txBody>
      </p:sp>
      <p:sp>
        <p:nvSpPr>
          <p:cNvPr id="4" name="Chỗ dành sẵn cho Số hiệu Bản chiếu 3"/>
          <p:cNvSpPr>
            <a:spLocks noGrp="1"/>
          </p:cNvSpPr>
          <p:nvPr>
            <p:ph type="sldNum" sz="quarter" idx="5"/>
          </p:nvPr>
        </p:nvSpPr>
        <p:spPr/>
        <p:txBody>
          <a:bodyPr/>
          <a:lstStyle/>
          <a:p>
            <a:fld id="{1894D122-B504-4748-A622-7E3CCED84D46}" type="slidenum">
              <a:rPr lang="en-US" smtClean="0"/>
              <a:t>16</a:t>
            </a:fld>
            <a:endParaRPr lang="en-US"/>
          </a:p>
        </p:txBody>
      </p:sp>
    </p:spTree>
    <p:extLst>
      <p:ext uri="{BB962C8B-B14F-4D97-AF65-F5344CB8AC3E}">
        <p14:creationId xmlns:p14="http://schemas.microsoft.com/office/powerpoint/2010/main" val="2233875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545B2B2-D72F-E5ED-3872-2ABADA21CF8B}"/>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02974BCA-4F65-1324-27B6-B6B44D2B10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9FAAEA9C-84E4-B68F-14DC-C5437F1D2346}"/>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5" name="Chỗ dành sẵn cho Chân trang 4">
            <a:extLst>
              <a:ext uri="{FF2B5EF4-FFF2-40B4-BE49-F238E27FC236}">
                <a16:creationId xmlns:a16="http://schemas.microsoft.com/office/drawing/2014/main" id="{BC01ADA5-191C-564E-B8A9-363F990EFD2C}"/>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C8DC8588-2B82-0665-6DC5-E370CDF0005E}"/>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3579950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451F83D-A21B-63F4-56AD-CF07680168FF}"/>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81BD8EF1-2776-4428-A646-AA27F379F598}"/>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C3A8981F-1362-DC73-8039-FA78C7DC91AC}"/>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5" name="Chỗ dành sẵn cho Chân trang 4">
            <a:extLst>
              <a:ext uri="{FF2B5EF4-FFF2-40B4-BE49-F238E27FC236}">
                <a16:creationId xmlns:a16="http://schemas.microsoft.com/office/drawing/2014/main" id="{8419A512-3E3C-568A-D733-ED22B145A2DA}"/>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167A6F44-7059-53C1-D3CE-FB686F131A67}"/>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4065382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E34CE92-E275-B75F-6259-D1248F81D972}"/>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D4BF5F1F-76F6-F4E6-7924-60FA65BA0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D8FF3FF3-EF6C-C17B-1FBB-46A43DAB151A}"/>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5" name="Chỗ dành sẵn cho Chân trang 4">
            <a:extLst>
              <a:ext uri="{FF2B5EF4-FFF2-40B4-BE49-F238E27FC236}">
                <a16:creationId xmlns:a16="http://schemas.microsoft.com/office/drawing/2014/main" id="{90090A72-11C9-06F3-4BC3-FA3E1740BB09}"/>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28DE93FE-5D2A-A543-6EBF-5F412F69AE8D}"/>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3628003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BA8A96E-D068-F929-6965-8585D33AE4BF}"/>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D21B315C-CAC2-952B-0630-FCA3B071C851}"/>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B3F3D9D2-83EC-8311-283A-3D44D7409777}"/>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726F6F84-C730-5D4B-0B2D-61AE4A60F894}"/>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6" name="Chỗ dành sẵn cho Chân trang 5">
            <a:extLst>
              <a:ext uri="{FF2B5EF4-FFF2-40B4-BE49-F238E27FC236}">
                <a16:creationId xmlns:a16="http://schemas.microsoft.com/office/drawing/2014/main" id="{31339AA7-0676-610B-2523-BEB72320ED8E}"/>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CDAF2151-A72A-70F1-4404-01F8D7FBD0B0}"/>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1409902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7904DA4-4157-86FC-F079-649DA50B2D41}"/>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EDE35161-13C7-01AC-5852-2934044F22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39255C8D-9C2A-5DF8-1BEB-915B63E34C8F}"/>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496105AD-1A3A-6F91-5082-E465DEC1EB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9D7B9FB0-EA52-E2B6-5C8A-58C0371A0FEB}"/>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4BE1EECC-48D6-801A-7BA2-05582C872C9D}"/>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8" name="Chỗ dành sẵn cho Chân trang 7">
            <a:extLst>
              <a:ext uri="{FF2B5EF4-FFF2-40B4-BE49-F238E27FC236}">
                <a16:creationId xmlns:a16="http://schemas.microsoft.com/office/drawing/2014/main" id="{A1097741-A103-5D00-8E3D-757384BF56B2}"/>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5D8ABA3B-C910-81FF-782E-7ED08F5DD541}"/>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1381215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0F12B66-7E82-F93A-A3AA-2B7A19A9584D}"/>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15E94DF6-A1FF-3ACC-0A4A-74167E0C9687}"/>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4" name="Chỗ dành sẵn cho Chân trang 3">
            <a:extLst>
              <a:ext uri="{FF2B5EF4-FFF2-40B4-BE49-F238E27FC236}">
                <a16:creationId xmlns:a16="http://schemas.microsoft.com/office/drawing/2014/main" id="{3B4A9CE1-B48C-AC06-4D50-D5468EF40EB6}"/>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08FC2670-85E4-2C7B-FBD4-F1B386247D35}"/>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4011459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74F8907E-1288-3E86-1D29-571D7C7797B3}"/>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3" name="Chỗ dành sẵn cho Chân trang 2">
            <a:extLst>
              <a:ext uri="{FF2B5EF4-FFF2-40B4-BE49-F238E27FC236}">
                <a16:creationId xmlns:a16="http://schemas.microsoft.com/office/drawing/2014/main" id="{001017D4-1023-6842-AC72-2D8E6BC56F7D}"/>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8417810F-F976-F6AC-0E6F-68365D456350}"/>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3049980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785146B-3D46-1B53-971F-FEF52CF28BFC}"/>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C931292C-EA50-66BD-0F1A-B3F516933A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F62343BC-FAF7-A18F-F14B-AD9485BC7B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B2FA9E92-7A3F-AF9B-ED0D-A2D833B066F9}"/>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6" name="Chỗ dành sẵn cho Chân trang 5">
            <a:extLst>
              <a:ext uri="{FF2B5EF4-FFF2-40B4-BE49-F238E27FC236}">
                <a16:creationId xmlns:a16="http://schemas.microsoft.com/office/drawing/2014/main" id="{379F2618-DE54-FDB4-2F38-A0CBD59CD1D6}"/>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40E2B19D-B34D-74D9-B204-D00F9284BE64}"/>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2042737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C5A6EE7-34C4-2297-8ACE-2125E6AAFDCE}"/>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EE17F0F4-A662-0CE7-16BB-F20BE7E5D7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8B39F810-D1B1-F747-C97F-3FD80AD99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CB056036-5E79-E083-8D7C-A358D2990E26}"/>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6" name="Chỗ dành sẵn cho Chân trang 5">
            <a:extLst>
              <a:ext uri="{FF2B5EF4-FFF2-40B4-BE49-F238E27FC236}">
                <a16:creationId xmlns:a16="http://schemas.microsoft.com/office/drawing/2014/main" id="{C0B34834-9097-1782-3BE6-E2366430767B}"/>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013313EB-2C2C-1E5E-91F9-85BF6DA73388}"/>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1389787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33BC37C-45DC-7B95-BC9F-246C980142FB}"/>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87AF7DC4-82DF-6D5D-58CF-DF647A3BD671}"/>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B7CA2EDB-FCCF-8E67-113A-3CEF82B0838B}"/>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5" name="Chỗ dành sẵn cho Chân trang 4">
            <a:extLst>
              <a:ext uri="{FF2B5EF4-FFF2-40B4-BE49-F238E27FC236}">
                <a16:creationId xmlns:a16="http://schemas.microsoft.com/office/drawing/2014/main" id="{925CEA21-B9CE-BBDC-38D4-C3B48205D77D}"/>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5E08A379-EEFB-0893-DD4A-E17ED54CD24D}"/>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1575523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9D84C59C-5AD7-FDA1-13C1-C8BB76CCE749}"/>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E51FA9CC-1BEB-1101-D770-6161A81CD2A5}"/>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D4E61173-5157-C839-4937-CFAF33706556}"/>
              </a:ext>
            </a:extLst>
          </p:cNvPr>
          <p:cNvSpPr>
            <a:spLocks noGrp="1"/>
          </p:cNvSpPr>
          <p:nvPr>
            <p:ph type="dt" sz="half" idx="10"/>
          </p:nvPr>
        </p:nvSpPr>
        <p:spPr/>
        <p:txBody>
          <a:bodyPr/>
          <a:lstStyle/>
          <a:p>
            <a:fld id="{C97A8872-3B68-4A17-A50C-95A64AF557D7}" type="datetimeFigureOut">
              <a:rPr lang="en-US" smtClean="0"/>
              <a:t>9/25/2026</a:t>
            </a:fld>
            <a:endParaRPr lang="en-US"/>
          </a:p>
        </p:txBody>
      </p:sp>
      <p:sp>
        <p:nvSpPr>
          <p:cNvPr id="5" name="Chỗ dành sẵn cho Chân trang 4">
            <a:extLst>
              <a:ext uri="{FF2B5EF4-FFF2-40B4-BE49-F238E27FC236}">
                <a16:creationId xmlns:a16="http://schemas.microsoft.com/office/drawing/2014/main" id="{D4BE63D5-A3F9-5840-39F6-A15F3E9D5280}"/>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D3F3758E-9BBC-4177-AAEA-48A58B67A1F8}"/>
              </a:ext>
            </a:extLst>
          </p:cNvPr>
          <p:cNvSpPr>
            <a:spLocks noGrp="1"/>
          </p:cNvSpPr>
          <p:nvPr>
            <p:ph type="sldNum" sz="quarter" idx="12"/>
          </p:nvPr>
        </p:nvSpPr>
        <p:spPr/>
        <p:txBody>
          <a:bodyPr/>
          <a:lstStyle/>
          <a:p>
            <a:fld id="{7F638AE0-E1FD-40D2-BFE8-5A589631D915}" type="slidenum">
              <a:rPr lang="en-US" smtClean="0"/>
              <a:t>‹#›</a:t>
            </a:fld>
            <a:endParaRPr lang="en-US"/>
          </a:p>
        </p:txBody>
      </p:sp>
    </p:spTree>
    <p:extLst>
      <p:ext uri="{BB962C8B-B14F-4D97-AF65-F5344CB8AC3E}">
        <p14:creationId xmlns:p14="http://schemas.microsoft.com/office/powerpoint/2010/main" val="3819735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7E94249C-2ECC-C8E8-71DA-DF8D488360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EEEEBCF4-B783-CC9D-6097-0D81577850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57D58816-B0AF-B963-2801-9CAC3E65D1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7A8872-3B68-4A17-A50C-95A64AF557D7}" type="datetimeFigureOut">
              <a:rPr lang="en-US" smtClean="0"/>
              <a:t>9/25/2026</a:t>
            </a:fld>
            <a:endParaRPr lang="en-US"/>
          </a:p>
        </p:txBody>
      </p:sp>
      <p:sp>
        <p:nvSpPr>
          <p:cNvPr id="5" name="Chỗ dành sẵn cho Chân trang 4">
            <a:extLst>
              <a:ext uri="{FF2B5EF4-FFF2-40B4-BE49-F238E27FC236}">
                <a16:creationId xmlns:a16="http://schemas.microsoft.com/office/drawing/2014/main" id="{F2DCF832-64A2-8CE8-C7DA-3F241E2CF0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Chỗ dành sẵn cho Số hiệu Bản chiếu 5">
            <a:extLst>
              <a:ext uri="{FF2B5EF4-FFF2-40B4-BE49-F238E27FC236}">
                <a16:creationId xmlns:a16="http://schemas.microsoft.com/office/drawing/2014/main" id="{42FBEFBC-008B-30EB-C7B9-6DB50D0396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638AE0-E1FD-40D2-BFE8-5A589631D915}" type="slidenum">
              <a:rPr lang="en-US" smtClean="0"/>
              <a:t>‹#›</a:t>
            </a:fld>
            <a:endParaRPr lang="en-US"/>
          </a:p>
        </p:txBody>
      </p:sp>
    </p:spTree>
    <p:extLst>
      <p:ext uri="{BB962C8B-B14F-4D97-AF65-F5344CB8AC3E}">
        <p14:creationId xmlns:p14="http://schemas.microsoft.com/office/powerpoint/2010/main" val="3510581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3ABF533F-209C-6A68-27F0-3C5F64D32C93}"/>
              </a:ext>
            </a:extLst>
          </p:cNvPr>
          <p:cNvSpPr/>
          <p:nvPr/>
        </p:nvSpPr>
        <p:spPr>
          <a:xfrm>
            <a:off x="0" y="0"/>
            <a:ext cx="12192000" cy="6858000"/>
          </a:xfrm>
          <a:prstGeom prst="rect">
            <a:avLst/>
          </a:prstGeom>
          <a:solidFill>
            <a:srgbClr val="141E3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E9562423-23F3-A831-3E07-639FC03BF4C0}"/>
              </a:ext>
            </a:extLst>
          </p:cNvPr>
          <p:cNvSpPr/>
          <p:nvPr/>
        </p:nvSpPr>
        <p:spPr>
          <a:xfrm>
            <a:off x="0" y="0"/>
            <a:ext cx="228600" cy="68580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154F1A01-5694-AA3D-8168-BFDBF93A0F5E}"/>
              </a:ext>
            </a:extLst>
          </p:cNvPr>
          <p:cNvSpPr txBox="1"/>
          <p:nvPr/>
        </p:nvSpPr>
        <p:spPr>
          <a:xfrm>
            <a:off x="787400" y="635000"/>
            <a:ext cx="8890000" cy="184666"/>
          </a:xfrm>
          <a:prstGeom prst="rect">
            <a:avLst/>
          </a:prstGeom>
          <a:noFill/>
        </p:spPr>
        <p:txBody>
          <a:bodyPr vert="horz" wrap="square" lIns="0" tIns="0" rIns="0" bIns="0" rtlCol="0">
            <a:spAutoFit/>
          </a:bodyPr>
          <a:lstStyle/>
          <a:p>
            <a:r>
              <a:rPr lang="en-US" sz="1200" b="1">
                <a:solidFill>
                  <a:srgbClr val="E3F2F0"/>
                </a:solidFill>
                <a:latin typeface="Arial" panose="020B0604020202020204" pitchFamily="34" charset="0"/>
              </a:rPr>
              <a:t>BÀI TẬP LỚN · INTERNET OF THINGS</a:t>
            </a:r>
          </a:p>
        </p:txBody>
      </p:sp>
      <p:sp>
        <p:nvSpPr>
          <p:cNvPr id="5" name="Hộp Văn bản 4">
            <a:extLst>
              <a:ext uri="{FF2B5EF4-FFF2-40B4-BE49-F238E27FC236}">
                <a16:creationId xmlns:a16="http://schemas.microsoft.com/office/drawing/2014/main" id="{E0B0963E-0973-7C1D-32F1-77F5733092BD}"/>
              </a:ext>
            </a:extLst>
          </p:cNvPr>
          <p:cNvSpPr txBox="1"/>
          <p:nvPr/>
        </p:nvSpPr>
        <p:spPr>
          <a:xfrm>
            <a:off x="787400" y="1181100"/>
            <a:ext cx="8763000" cy="1169551"/>
          </a:xfrm>
          <a:prstGeom prst="rect">
            <a:avLst/>
          </a:prstGeom>
          <a:noFill/>
        </p:spPr>
        <p:txBody>
          <a:bodyPr vert="horz" wrap="square" lIns="0" tIns="0" rIns="0" bIns="0" rtlCol="0">
            <a:spAutoFit/>
          </a:bodyPr>
          <a:lstStyle/>
          <a:p>
            <a:r>
              <a:rPr lang="en-US" sz="3800" b="1">
                <a:solidFill>
                  <a:srgbClr val="FFFFFF"/>
                </a:solidFill>
                <a:latin typeface="Arial" panose="020B0604020202020204" pitchFamily="34" charset="0"/>
              </a:rPr>
              <a:t>DIGITAL TWIN GIÁM SÁT
KHO BẢO QUẢN RAU QUẢ</a:t>
            </a:r>
          </a:p>
        </p:txBody>
      </p:sp>
      <p:sp>
        <p:nvSpPr>
          <p:cNvPr id="6" name="Hộp Văn bản 5">
            <a:extLst>
              <a:ext uri="{FF2B5EF4-FFF2-40B4-BE49-F238E27FC236}">
                <a16:creationId xmlns:a16="http://schemas.microsoft.com/office/drawing/2014/main" id="{B1AA4B33-2CA4-32FB-AAE3-2EC8041786A9}"/>
              </a:ext>
            </a:extLst>
          </p:cNvPr>
          <p:cNvSpPr txBox="1"/>
          <p:nvPr/>
        </p:nvSpPr>
        <p:spPr>
          <a:xfrm>
            <a:off x="825500" y="2844800"/>
            <a:ext cx="9398000" cy="276999"/>
          </a:xfrm>
          <a:prstGeom prst="rect">
            <a:avLst/>
          </a:prstGeom>
          <a:noFill/>
        </p:spPr>
        <p:txBody>
          <a:bodyPr vert="horz" wrap="square" lIns="0" tIns="0" rIns="0" bIns="0" rtlCol="0">
            <a:spAutoFit/>
          </a:bodyPr>
          <a:lstStyle/>
          <a:p>
            <a:r>
              <a:rPr lang="vi-VN">
                <a:solidFill>
                  <a:srgbClr val="CAD8E2"/>
                </a:solidFill>
                <a:latin typeface="Arial" panose="020B0604020202020204" pitchFamily="34" charset="0"/>
              </a:rPr>
              <a:t>Giám sát trạng thái · phát hiện bất thường · cảnh báo · điều khiển LED hai chiều</a:t>
            </a:r>
            <a:endParaRPr lang="en-US">
              <a:solidFill>
                <a:srgbClr val="CAD8E2"/>
              </a:solidFill>
              <a:latin typeface="Arial" panose="020B0604020202020204" pitchFamily="34" charset="0"/>
            </a:endParaRPr>
          </a:p>
        </p:txBody>
      </p:sp>
      <p:sp>
        <p:nvSpPr>
          <p:cNvPr id="7" name="Hình chữ nhật: Góc Tròn 6">
            <a:extLst>
              <a:ext uri="{FF2B5EF4-FFF2-40B4-BE49-F238E27FC236}">
                <a16:creationId xmlns:a16="http://schemas.microsoft.com/office/drawing/2014/main" id="{B9AFB126-8175-7969-925F-3DED4F3A2472}"/>
              </a:ext>
            </a:extLst>
          </p:cNvPr>
          <p:cNvSpPr/>
          <p:nvPr/>
        </p:nvSpPr>
        <p:spPr>
          <a:xfrm>
            <a:off x="800100" y="4013200"/>
            <a:ext cx="10591800" cy="1854200"/>
          </a:xfrm>
          <a:prstGeom prst="roundRect">
            <a:avLst/>
          </a:prstGeom>
          <a:solidFill>
            <a:srgbClr val="1A2B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ộp Văn bản 7">
            <a:extLst>
              <a:ext uri="{FF2B5EF4-FFF2-40B4-BE49-F238E27FC236}">
                <a16:creationId xmlns:a16="http://schemas.microsoft.com/office/drawing/2014/main" id="{04A39E05-7B30-8E45-AE0E-07BE07C4B87F}"/>
              </a:ext>
            </a:extLst>
          </p:cNvPr>
          <p:cNvSpPr txBox="1"/>
          <p:nvPr/>
        </p:nvSpPr>
        <p:spPr>
          <a:xfrm>
            <a:off x="1168400" y="4368800"/>
            <a:ext cx="3175000" cy="169277"/>
          </a:xfrm>
          <a:prstGeom prst="rect">
            <a:avLst/>
          </a:prstGeom>
          <a:noFill/>
        </p:spPr>
        <p:txBody>
          <a:bodyPr vert="horz" wrap="square" lIns="0" tIns="0" rIns="0" bIns="0" rtlCol="0">
            <a:spAutoFit/>
          </a:bodyPr>
          <a:lstStyle/>
          <a:p>
            <a:r>
              <a:rPr lang="en-US" sz="1100" b="1">
                <a:solidFill>
                  <a:srgbClr val="E3F2F0"/>
                </a:solidFill>
                <a:latin typeface="Arial" panose="020B0604020202020204" pitchFamily="34" charset="0"/>
              </a:rPr>
              <a:t>THINGSBOARD LOCAL 4.3.1.5</a:t>
            </a:r>
          </a:p>
        </p:txBody>
      </p:sp>
      <p:sp>
        <p:nvSpPr>
          <p:cNvPr id="9" name="Hộp Văn bản 8">
            <a:extLst>
              <a:ext uri="{FF2B5EF4-FFF2-40B4-BE49-F238E27FC236}">
                <a16:creationId xmlns:a16="http://schemas.microsoft.com/office/drawing/2014/main" id="{A5FFBD57-C8BE-AC33-E73A-EA0B836F1DF0}"/>
              </a:ext>
            </a:extLst>
          </p:cNvPr>
          <p:cNvSpPr txBox="1"/>
          <p:nvPr/>
        </p:nvSpPr>
        <p:spPr>
          <a:xfrm>
            <a:off x="1168400" y="4775200"/>
            <a:ext cx="3810000" cy="307777"/>
          </a:xfrm>
          <a:prstGeom prst="rect">
            <a:avLst/>
          </a:prstGeom>
          <a:noFill/>
        </p:spPr>
        <p:txBody>
          <a:bodyPr vert="horz" wrap="square" lIns="0" tIns="0" rIns="0" bIns="0" rtlCol="0">
            <a:spAutoFit/>
          </a:bodyPr>
          <a:lstStyle/>
          <a:p>
            <a:r>
              <a:rPr lang="en-US" sz="2000" b="1">
                <a:solidFill>
                  <a:srgbClr val="FFFFFF"/>
                </a:solidFill>
                <a:latin typeface="Arial" panose="020B0604020202020204" pitchFamily="34" charset="0"/>
              </a:rPr>
              <a:t>ESP32 · DHT22 · PIR · LED</a:t>
            </a:r>
          </a:p>
        </p:txBody>
      </p:sp>
      <p:sp>
        <p:nvSpPr>
          <p:cNvPr id="10" name="Hộp Văn bản 9">
            <a:extLst>
              <a:ext uri="{FF2B5EF4-FFF2-40B4-BE49-F238E27FC236}">
                <a16:creationId xmlns:a16="http://schemas.microsoft.com/office/drawing/2014/main" id="{3D1B97A7-A109-0AF4-929F-C419EFB4BE79}"/>
              </a:ext>
            </a:extLst>
          </p:cNvPr>
          <p:cNvSpPr txBox="1"/>
          <p:nvPr/>
        </p:nvSpPr>
        <p:spPr>
          <a:xfrm>
            <a:off x="1168400" y="5257800"/>
            <a:ext cx="4826000" cy="200055"/>
          </a:xfrm>
          <a:prstGeom prst="rect">
            <a:avLst/>
          </a:prstGeom>
          <a:noFill/>
        </p:spPr>
        <p:txBody>
          <a:bodyPr vert="horz" wrap="square" lIns="0" tIns="0" rIns="0" bIns="0" rtlCol="0">
            <a:spAutoFit/>
          </a:bodyPr>
          <a:lstStyle/>
          <a:p>
            <a:r>
              <a:rPr lang="en-US" sz="1300">
                <a:solidFill>
                  <a:srgbClr val="BECDDA"/>
                </a:solidFill>
                <a:latin typeface="Arial" panose="020B0604020202020204" pitchFamily="34" charset="0"/>
              </a:rPr>
              <a:t>Asset ↔ Device ↔ Rule Engine ↔ Dashboard</a:t>
            </a:r>
          </a:p>
        </p:txBody>
      </p:sp>
      <p:sp>
        <p:nvSpPr>
          <p:cNvPr id="11" name="Lục giác 10">
            <a:extLst>
              <a:ext uri="{FF2B5EF4-FFF2-40B4-BE49-F238E27FC236}">
                <a16:creationId xmlns:a16="http://schemas.microsoft.com/office/drawing/2014/main" id="{4A895F30-0585-DD84-1FDC-D96E8FE983AB}"/>
              </a:ext>
            </a:extLst>
          </p:cNvPr>
          <p:cNvSpPr/>
          <p:nvPr/>
        </p:nvSpPr>
        <p:spPr>
          <a:xfrm>
            <a:off x="8699500" y="4140200"/>
            <a:ext cx="1905000" cy="1549400"/>
          </a:xfrm>
          <a:prstGeom prst="hexagon">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ộp Văn bản 11">
            <a:extLst>
              <a:ext uri="{FF2B5EF4-FFF2-40B4-BE49-F238E27FC236}">
                <a16:creationId xmlns:a16="http://schemas.microsoft.com/office/drawing/2014/main" id="{55FD5A58-41C4-40B8-CEE2-6C1E35830F1C}"/>
              </a:ext>
            </a:extLst>
          </p:cNvPr>
          <p:cNvSpPr txBox="1"/>
          <p:nvPr/>
        </p:nvSpPr>
        <p:spPr>
          <a:xfrm>
            <a:off x="8699500" y="4559300"/>
            <a:ext cx="1905000" cy="400110"/>
          </a:xfrm>
          <a:prstGeom prst="rect">
            <a:avLst/>
          </a:prstGeom>
          <a:noFill/>
        </p:spPr>
        <p:txBody>
          <a:bodyPr vert="horz" wrap="square" lIns="0" tIns="0" rIns="0" bIns="0" rtlCol="0">
            <a:spAutoFit/>
          </a:bodyPr>
          <a:lstStyle/>
          <a:p>
            <a:pPr algn="ctr"/>
            <a:r>
              <a:rPr lang="en-US" sz="2600" b="1">
                <a:solidFill>
                  <a:srgbClr val="FFFFFF"/>
                </a:solidFill>
                <a:latin typeface="Arial" panose="020B0604020202020204" pitchFamily="34" charset="0"/>
              </a:rPr>
              <a:t>TWIN</a:t>
            </a:r>
          </a:p>
        </p:txBody>
      </p:sp>
      <p:sp>
        <p:nvSpPr>
          <p:cNvPr id="13" name="Hộp Văn bản 12">
            <a:extLst>
              <a:ext uri="{FF2B5EF4-FFF2-40B4-BE49-F238E27FC236}">
                <a16:creationId xmlns:a16="http://schemas.microsoft.com/office/drawing/2014/main" id="{7702C0F5-5BD8-1177-0B5B-62C016C90D57}"/>
              </a:ext>
            </a:extLst>
          </p:cNvPr>
          <p:cNvSpPr txBox="1"/>
          <p:nvPr/>
        </p:nvSpPr>
        <p:spPr>
          <a:xfrm>
            <a:off x="8699500" y="5041900"/>
            <a:ext cx="1905000" cy="169277"/>
          </a:xfrm>
          <a:prstGeom prst="rect">
            <a:avLst/>
          </a:prstGeom>
          <a:noFill/>
        </p:spPr>
        <p:txBody>
          <a:bodyPr vert="horz" wrap="square" lIns="0" tIns="0" rIns="0" bIns="0" rtlCol="0">
            <a:spAutoFit/>
          </a:bodyPr>
          <a:lstStyle/>
          <a:p>
            <a:pPr algn="ctr"/>
            <a:r>
              <a:rPr lang="en-US" sz="1100" b="1">
                <a:solidFill>
                  <a:srgbClr val="E3F2F0"/>
                </a:solidFill>
                <a:latin typeface="Arial" panose="020B0604020202020204" pitchFamily="34" charset="0"/>
              </a:rPr>
              <a:t>2026</a:t>
            </a:r>
          </a:p>
        </p:txBody>
      </p:sp>
    </p:spTree>
    <p:extLst>
      <p:ext uri="{BB962C8B-B14F-4D97-AF65-F5344CB8AC3E}">
        <p14:creationId xmlns:p14="http://schemas.microsoft.com/office/powerpoint/2010/main" val="1513491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BBC2BE33-1C5A-F637-EC45-B3BAC1FDC35B}"/>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BECED824-1F15-1FF0-74B8-66A16C51B64A}"/>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A5E872D0-8D8B-6595-6836-0E7A20E71892}"/>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01 · ĐẶT VẤN ĐỀ</a:t>
            </a:r>
          </a:p>
        </p:txBody>
      </p:sp>
      <p:sp>
        <p:nvSpPr>
          <p:cNvPr id="5" name="Hộp Văn bản 4">
            <a:extLst>
              <a:ext uri="{FF2B5EF4-FFF2-40B4-BE49-F238E27FC236}">
                <a16:creationId xmlns:a16="http://schemas.microsoft.com/office/drawing/2014/main" id="{BCA70A3B-32C7-3BB6-6D43-A289040DF19A}"/>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Bài toán và phạm vi</a:t>
            </a:r>
          </a:p>
        </p:txBody>
      </p:sp>
      <p:sp>
        <p:nvSpPr>
          <p:cNvPr id="6" name="Hình chữ nhật 5">
            <a:extLst>
              <a:ext uri="{FF2B5EF4-FFF2-40B4-BE49-F238E27FC236}">
                <a16:creationId xmlns:a16="http://schemas.microsoft.com/office/drawing/2014/main" id="{466BB50E-E3C0-E2CE-9E9C-1DAE7AEBC2CC}"/>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EBE93F49-F980-4B54-7428-8FA5BF36572E}"/>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6F4BD366-1196-16AC-24DB-08808394FA9E}"/>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02</a:t>
            </a:r>
          </a:p>
        </p:txBody>
      </p:sp>
      <p:sp>
        <p:nvSpPr>
          <p:cNvPr id="9" name="Hình chữ nhật: Góc Tròn 8">
            <a:extLst>
              <a:ext uri="{FF2B5EF4-FFF2-40B4-BE49-F238E27FC236}">
                <a16:creationId xmlns:a16="http://schemas.microsoft.com/office/drawing/2014/main" id="{A6944EA1-104C-27FB-12F0-E79FCC5304A6}"/>
              </a:ext>
            </a:extLst>
          </p:cNvPr>
          <p:cNvSpPr/>
          <p:nvPr/>
        </p:nvSpPr>
        <p:spPr>
          <a:xfrm>
            <a:off x="609600" y="1498600"/>
            <a:ext cx="5232400" cy="43434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ộp Văn bản 9">
            <a:extLst>
              <a:ext uri="{FF2B5EF4-FFF2-40B4-BE49-F238E27FC236}">
                <a16:creationId xmlns:a16="http://schemas.microsoft.com/office/drawing/2014/main" id="{193374A1-B53A-3C4E-4578-221F32830962}"/>
              </a:ext>
            </a:extLst>
          </p:cNvPr>
          <p:cNvSpPr txBox="1"/>
          <p:nvPr/>
        </p:nvSpPr>
        <p:spPr>
          <a:xfrm>
            <a:off x="914400" y="1803400"/>
            <a:ext cx="2286000" cy="307777"/>
          </a:xfrm>
          <a:prstGeom prst="rect">
            <a:avLst/>
          </a:prstGeom>
          <a:noFill/>
        </p:spPr>
        <p:txBody>
          <a:bodyPr vert="horz" wrap="square" lIns="0" tIns="0" rIns="0" bIns="0" rtlCol="0">
            <a:spAutoFit/>
          </a:bodyPr>
          <a:lstStyle/>
          <a:p>
            <a:r>
              <a:rPr lang="en-US" sz="2000" b="1">
                <a:solidFill>
                  <a:srgbClr val="004D46"/>
                </a:solidFill>
                <a:latin typeface="Arial" panose="020B0604020202020204" pitchFamily="34" charset="0"/>
              </a:rPr>
              <a:t>Vấn đề</a:t>
            </a:r>
          </a:p>
        </p:txBody>
      </p:sp>
      <p:sp>
        <p:nvSpPr>
          <p:cNvPr id="11" name="Hình Bầu dục 10">
            <a:extLst>
              <a:ext uri="{FF2B5EF4-FFF2-40B4-BE49-F238E27FC236}">
                <a16:creationId xmlns:a16="http://schemas.microsoft.com/office/drawing/2014/main" id="{4CAE038D-8DAE-A449-D817-BCBCFB9359F2}"/>
              </a:ext>
            </a:extLst>
          </p:cNvPr>
          <p:cNvSpPr/>
          <p:nvPr/>
        </p:nvSpPr>
        <p:spPr>
          <a:xfrm>
            <a:off x="914400" y="24765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ộp Văn bản 11">
            <a:extLst>
              <a:ext uri="{FF2B5EF4-FFF2-40B4-BE49-F238E27FC236}">
                <a16:creationId xmlns:a16="http://schemas.microsoft.com/office/drawing/2014/main" id="{A0A2FB12-FC37-1D0B-5B11-7FBF506AEFC4}"/>
              </a:ext>
            </a:extLst>
          </p:cNvPr>
          <p:cNvSpPr txBox="1"/>
          <p:nvPr/>
        </p:nvSpPr>
        <p:spPr>
          <a:xfrm>
            <a:off x="1168400" y="2387600"/>
            <a:ext cx="4241800" cy="492443"/>
          </a:xfrm>
          <a:prstGeom prst="rect">
            <a:avLst/>
          </a:prstGeom>
          <a:noFill/>
        </p:spPr>
        <p:txBody>
          <a:bodyPr vert="horz" wrap="square" lIns="0" tIns="0" rIns="0" bIns="0" rtlCol="0">
            <a:spAutoFit/>
          </a:bodyPr>
          <a:lstStyle/>
          <a:p>
            <a:r>
              <a:rPr lang="vi-VN" sz="1600">
                <a:solidFill>
                  <a:srgbClr val="141E30"/>
                </a:solidFill>
                <a:latin typeface="Arial" panose="020B0604020202020204" pitchFamily="34" charset="0"/>
              </a:rPr>
              <a:t>Nhiệt độ, độ ẩm và chuyển động cần được theo dõi theo thời gian thực.</a:t>
            </a:r>
            <a:endParaRPr lang="en-US" sz="1600">
              <a:solidFill>
                <a:srgbClr val="141E30"/>
              </a:solidFill>
              <a:latin typeface="Arial" panose="020B0604020202020204" pitchFamily="34" charset="0"/>
            </a:endParaRPr>
          </a:p>
        </p:txBody>
      </p:sp>
      <p:sp>
        <p:nvSpPr>
          <p:cNvPr id="13" name="Hình Bầu dục 12">
            <a:extLst>
              <a:ext uri="{FF2B5EF4-FFF2-40B4-BE49-F238E27FC236}">
                <a16:creationId xmlns:a16="http://schemas.microsoft.com/office/drawing/2014/main" id="{74C6E6A7-94FC-275F-B1D5-A0E2828419FA}"/>
              </a:ext>
            </a:extLst>
          </p:cNvPr>
          <p:cNvSpPr/>
          <p:nvPr/>
        </p:nvSpPr>
        <p:spPr>
          <a:xfrm>
            <a:off x="914400" y="33274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ộp Văn bản 13">
            <a:extLst>
              <a:ext uri="{FF2B5EF4-FFF2-40B4-BE49-F238E27FC236}">
                <a16:creationId xmlns:a16="http://schemas.microsoft.com/office/drawing/2014/main" id="{B0E31AC4-EC7D-4C5E-7801-7AC668C72E81}"/>
              </a:ext>
            </a:extLst>
          </p:cNvPr>
          <p:cNvSpPr txBox="1"/>
          <p:nvPr/>
        </p:nvSpPr>
        <p:spPr>
          <a:xfrm>
            <a:off x="1168400" y="3238500"/>
            <a:ext cx="4241800" cy="492443"/>
          </a:xfrm>
          <a:prstGeom prst="rect">
            <a:avLst/>
          </a:prstGeom>
          <a:noFill/>
        </p:spPr>
        <p:txBody>
          <a:bodyPr vert="horz" wrap="square" lIns="0" tIns="0" rIns="0" bIns="0" rtlCol="0">
            <a:spAutoFit/>
          </a:bodyPr>
          <a:lstStyle/>
          <a:p>
            <a:r>
              <a:rPr lang="vi-VN" sz="1600">
                <a:solidFill>
                  <a:srgbClr val="141E30"/>
                </a:solidFill>
                <a:latin typeface="Arial" panose="020B0604020202020204" pitchFamily="34" charset="0"/>
              </a:rPr>
              <a:t>Dashboard cảm biến đơn thuần chưa thể hiện trạng thái, quan hệ và vòng phản hồi.</a:t>
            </a:r>
            <a:endParaRPr lang="en-US" sz="1600">
              <a:solidFill>
                <a:srgbClr val="141E30"/>
              </a:solidFill>
              <a:latin typeface="Arial" panose="020B0604020202020204" pitchFamily="34" charset="0"/>
            </a:endParaRPr>
          </a:p>
        </p:txBody>
      </p:sp>
      <p:sp>
        <p:nvSpPr>
          <p:cNvPr id="15" name="Hình Bầu dục 14">
            <a:extLst>
              <a:ext uri="{FF2B5EF4-FFF2-40B4-BE49-F238E27FC236}">
                <a16:creationId xmlns:a16="http://schemas.microsoft.com/office/drawing/2014/main" id="{9732C5FF-BCAD-604F-0758-2147DFE593F3}"/>
              </a:ext>
            </a:extLst>
          </p:cNvPr>
          <p:cNvSpPr/>
          <p:nvPr/>
        </p:nvSpPr>
        <p:spPr>
          <a:xfrm>
            <a:off x="914400" y="41783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ộp Văn bản 15">
            <a:extLst>
              <a:ext uri="{FF2B5EF4-FFF2-40B4-BE49-F238E27FC236}">
                <a16:creationId xmlns:a16="http://schemas.microsoft.com/office/drawing/2014/main" id="{DF553E3D-9238-ECA7-2E68-283E30E08170}"/>
              </a:ext>
            </a:extLst>
          </p:cNvPr>
          <p:cNvSpPr txBox="1"/>
          <p:nvPr/>
        </p:nvSpPr>
        <p:spPr>
          <a:xfrm>
            <a:off x="1168400" y="4089400"/>
            <a:ext cx="4241800" cy="492443"/>
          </a:xfrm>
          <a:prstGeom prst="rect">
            <a:avLst/>
          </a:prstGeom>
          <a:noFill/>
        </p:spPr>
        <p:txBody>
          <a:bodyPr vert="horz" wrap="square" lIns="0" tIns="0" rIns="0" bIns="0" rtlCol="0">
            <a:spAutoFit/>
          </a:bodyPr>
          <a:lstStyle/>
          <a:p>
            <a:r>
              <a:rPr lang="vi-VN" sz="1600">
                <a:solidFill>
                  <a:srgbClr val="141E30"/>
                </a:solidFill>
                <a:latin typeface="Arial" panose="020B0604020202020204" pitchFamily="34" charset="0"/>
              </a:rPr>
              <a:t>Cần cảnh báo đúng loại và truy vết được bằng dữ liệu lịch sử.</a:t>
            </a:r>
            <a:endParaRPr lang="en-US" sz="1600">
              <a:solidFill>
                <a:srgbClr val="141E30"/>
              </a:solidFill>
              <a:latin typeface="Arial" panose="020B0604020202020204" pitchFamily="34" charset="0"/>
            </a:endParaRPr>
          </a:p>
        </p:txBody>
      </p:sp>
      <p:sp>
        <p:nvSpPr>
          <p:cNvPr id="17" name="Hình chữ nhật: Góc Tròn 16">
            <a:extLst>
              <a:ext uri="{FF2B5EF4-FFF2-40B4-BE49-F238E27FC236}">
                <a16:creationId xmlns:a16="http://schemas.microsoft.com/office/drawing/2014/main" id="{15E20C4D-B4C6-3A5A-F988-8736A694E756}"/>
              </a:ext>
            </a:extLst>
          </p:cNvPr>
          <p:cNvSpPr/>
          <p:nvPr/>
        </p:nvSpPr>
        <p:spPr>
          <a:xfrm>
            <a:off x="6121400" y="1498600"/>
            <a:ext cx="5461000" cy="4343400"/>
          </a:xfrm>
          <a:prstGeom prst="roundRect">
            <a:avLst/>
          </a:prstGeom>
          <a:solidFill>
            <a:srgbClr val="E3F2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ộp Văn bản 17">
            <a:extLst>
              <a:ext uri="{FF2B5EF4-FFF2-40B4-BE49-F238E27FC236}">
                <a16:creationId xmlns:a16="http://schemas.microsoft.com/office/drawing/2014/main" id="{488156B8-CE88-7780-29CB-301D4A7C86B5}"/>
              </a:ext>
            </a:extLst>
          </p:cNvPr>
          <p:cNvSpPr txBox="1"/>
          <p:nvPr/>
        </p:nvSpPr>
        <p:spPr>
          <a:xfrm>
            <a:off x="6426200" y="1803400"/>
            <a:ext cx="3175000" cy="307777"/>
          </a:xfrm>
          <a:prstGeom prst="rect">
            <a:avLst/>
          </a:prstGeom>
          <a:noFill/>
        </p:spPr>
        <p:txBody>
          <a:bodyPr vert="horz" wrap="square" lIns="0" tIns="0" rIns="0" bIns="0" rtlCol="0">
            <a:spAutoFit/>
          </a:bodyPr>
          <a:lstStyle/>
          <a:p>
            <a:r>
              <a:rPr lang="en-US" sz="2000" b="1">
                <a:solidFill>
                  <a:srgbClr val="004D46"/>
                </a:solidFill>
                <a:latin typeface="Arial" panose="020B0604020202020204" pitchFamily="34" charset="0"/>
              </a:rPr>
              <a:t>Mục tiêu đầu ra</a:t>
            </a:r>
          </a:p>
        </p:txBody>
      </p:sp>
      <p:sp>
        <p:nvSpPr>
          <p:cNvPr id="19" name="Hình Bầu dục 18">
            <a:extLst>
              <a:ext uri="{FF2B5EF4-FFF2-40B4-BE49-F238E27FC236}">
                <a16:creationId xmlns:a16="http://schemas.microsoft.com/office/drawing/2014/main" id="{06CE3B51-FBC0-C076-F58B-E043B05E220D}"/>
              </a:ext>
            </a:extLst>
          </p:cNvPr>
          <p:cNvSpPr/>
          <p:nvPr/>
        </p:nvSpPr>
        <p:spPr>
          <a:xfrm>
            <a:off x="6426200" y="2476500"/>
            <a:ext cx="114300" cy="114300"/>
          </a:xfrm>
          <a:prstGeom prst="ellipse">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ộp Văn bản 19">
            <a:extLst>
              <a:ext uri="{FF2B5EF4-FFF2-40B4-BE49-F238E27FC236}">
                <a16:creationId xmlns:a16="http://schemas.microsoft.com/office/drawing/2014/main" id="{145717CC-9EFC-39CF-7E82-29E2CA256470}"/>
              </a:ext>
            </a:extLst>
          </p:cNvPr>
          <p:cNvSpPr txBox="1"/>
          <p:nvPr/>
        </p:nvSpPr>
        <p:spPr>
          <a:xfrm>
            <a:off x="6680200" y="2387600"/>
            <a:ext cx="4495800" cy="492443"/>
          </a:xfrm>
          <a:prstGeom prst="rect">
            <a:avLst/>
          </a:prstGeom>
          <a:noFill/>
        </p:spPr>
        <p:txBody>
          <a:bodyPr vert="horz" wrap="square" lIns="0" tIns="0" rIns="0" bIns="0" rtlCol="0">
            <a:spAutoFit/>
          </a:bodyPr>
          <a:lstStyle/>
          <a:p>
            <a:r>
              <a:rPr lang="fr-FR" sz="1600">
                <a:solidFill>
                  <a:srgbClr val="141E30"/>
                </a:solidFill>
                <a:latin typeface="Arial" panose="020B0604020202020204" pitchFamily="34" charset="0"/>
              </a:rPr>
              <a:t>Twin cấp kho gồm Asset, Device và relation Contains.</a:t>
            </a:r>
            <a:endParaRPr lang="en-US" sz="1600">
              <a:solidFill>
                <a:srgbClr val="141E30"/>
              </a:solidFill>
              <a:latin typeface="Arial" panose="020B0604020202020204" pitchFamily="34" charset="0"/>
            </a:endParaRPr>
          </a:p>
        </p:txBody>
      </p:sp>
      <p:sp>
        <p:nvSpPr>
          <p:cNvPr id="21" name="Hình Bầu dục 20">
            <a:extLst>
              <a:ext uri="{FF2B5EF4-FFF2-40B4-BE49-F238E27FC236}">
                <a16:creationId xmlns:a16="http://schemas.microsoft.com/office/drawing/2014/main" id="{2C207AFA-8EC3-06A7-15CC-9D3E5E31B5F2}"/>
              </a:ext>
            </a:extLst>
          </p:cNvPr>
          <p:cNvSpPr/>
          <p:nvPr/>
        </p:nvSpPr>
        <p:spPr>
          <a:xfrm>
            <a:off x="6426200" y="3175000"/>
            <a:ext cx="114300" cy="114300"/>
          </a:xfrm>
          <a:prstGeom prst="ellipse">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Hộp Văn bản 21">
            <a:extLst>
              <a:ext uri="{FF2B5EF4-FFF2-40B4-BE49-F238E27FC236}">
                <a16:creationId xmlns:a16="http://schemas.microsoft.com/office/drawing/2014/main" id="{9E04A73B-16A6-70C4-A84F-63F3ED23F708}"/>
              </a:ext>
            </a:extLst>
          </p:cNvPr>
          <p:cNvSpPr txBox="1"/>
          <p:nvPr/>
        </p:nvSpPr>
        <p:spPr>
          <a:xfrm>
            <a:off x="6680200" y="3086100"/>
            <a:ext cx="4495800" cy="492443"/>
          </a:xfrm>
          <a:prstGeom prst="rect">
            <a:avLst/>
          </a:prstGeom>
          <a:noFill/>
        </p:spPr>
        <p:txBody>
          <a:bodyPr vert="horz" wrap="square" lIns="0" tIns="0" rIns="0" bIns="0" rtlCol="0">
            <a:spAutoFit/>
          </a:bodyPr>
          <a:lstStyle/>
          <a:p>
            <a:r>
              <a:rPr lang="en-US" sz="1600">
                <a:solidFill>
                  <a:srgbClr val="141E30"/>
                </a:solidFill>
                <a:latin typeface="Arial" panose="020B0604020202020204" pitchFamily="34" charset="0"/>
              </a:rPr>
              <a:t>State machine NORMAL / WARNING / CRITICAL / OFFLINE.</a:t>
            </a:r>
          </a:p>
        </p:txBody>
      </p:sp>
      <p:sp>
        <p:nvSpPr>
          <p:cNvPr id="23" name="Hình Bầu dục 22">
            <a:extLst>
              <a:ext uri="{FF2B5EF4-FFF2-40B4-BE49-F238E27FC236}">
                <a16:creationId xmlns:a16="http://schemas.microsoft.com/office/drawing/2014/main" id="{63AC64FC-C402-E054-4AF0-8DDC15BC9170}"/>
              </a:ext>
            </a:extLst>
          </p:cNvPr>
          <p:cNvSpPr/>
          <p:nvPr/>
        </p:nvSpPr>
        <p:spPr>
          <a:xfrm>
            <a:off x="6426200" y="3873500"/>
            <a:ext cx="114300" cy="114300"/>
          </a:xfrm>
          <a:prstGeom prst="ellipse">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ộp Văn bản 23">
            <a:extLst>
              <a:ext uri="{FF2B5EF4-FFF2-40B4-BE49-F238E27FC236}">
                <a16:creationId xmlns:a16="http://schemas.microsoft.com/office/drawing/2014/main" id="{6FDFAB9B-46B0-4ED2-1258-274D4AB7BA10}"/>
              </a:ext>
            </a:extLst>
          </p:cNvPr>
          <p:cNvSpPr txBox="1"/>
          <p:nvPr/>
        </p:nvSpPr>
        <p:spPr>
          <a:xfrm>
            <a:off x="6680200" y="3784600"/>
            <a:ext cx="4495800" cy="492443"/>
          </a:xfrm>
          <a:prstGeom prst="rect">
            <a:avLst/>
          </a:prstGeom>
          <a:noFill/>
        </p:spPr>
        <p:txBody>
          <a:bodyPr vert="horz" wrap="square" lIns="0" tIns="0" rIns="0" bIns="0" rtlCol="0">
            <a:spAutoFit/>
          </a:bodyPr>
          <a:lstStyle/>
          <a:p>
            <a:r>
              <a:rPr lang="en-US" sz="1600">
                <a:solidFill>
                  <a:srgbClr val="141E30"/>
                </a:solidFill>
                <a:latin typeface="Arial" panose="020B0604020202020204" pitchFamily="34" charset="0"/>
              </a:rPr>
              <a:t>13 nhóm nghiệp vụ/dữ liệu + connection lost; dashboard 19 widget.</a:t>
            </a:r>
          </a:p>
        </p:txBody>
      </p:sp>
      <p:sp>
        <p:nvSpPr>
          <p:cNvPr id="25" name="Hình Bầu dục 24">
            <a:extLst>
              <a:ext uri="{FF2B5EF4-FFF2-40B4-BE49-F238E27FC236}">
                <a16:creationId xmlns:a16="http://schemas.microsoft.com/office/drawing/2014/main" id="{ABABB23F-56DF-50A9-C555-10963DA6C5BA}"/>
              </a:ext>
            </a:extLst>
          </p:cNvPr>
          <p:cNvSpPr/>
          <p:nvPr/>
        </p:nvSpPr>
        <p:spPr>
          <a:xfrm>
            <a:off x="6426200" y="4572000"/>
            <a:ext cx="114300" cy="114300"/>
          </a:xfrm>
          <a:prstGeom prst="ellipse">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ộp Văn bản 25">
            <a:extLst>
              <a:ext uri="{FF2B5EF4-FFF2-40B4-BE49-F238E27FC236}">
                <a16:creationId xmlns:a16="http://schemas.microsoft.com/office/drawing/2014/main" id="{3290E387-7959-D035-CEDC-348D8170D070}"/>
              </a:ext>
            </a:extLst>
          </p:cNvPr>
          <p:cNvSpPr txBox="1"/>
          <p:nvPr/>
        </p:nvSpPr>
        <p:spPr>
          <a:xfrm>
            <a:off x="6680200" y="4483100"/>
            <a:ext cx="4495800" cy="492443"/>
          </a:xfrm>
          <a:prstGeom prst="rect">
            <a:avLst/>
          </a:prstGeom>
          <a:noFill/>
        </p:spPr>
        <p:txBody>
          <a:bodyPr vert="horz" wrap="square" lIns="0" tIns="0" rIns="0" bIns="0" rtlCol="0">
            <a:spAutoFit/>
          </a:bodyPr>
          <a:lstStyle/>
          <a:p>
            <a:r>
              <a:rPr lang="en-US" sz="1600">
                <a:solidFill>
                  <a:srgbClr val="141E30"/>
                </a:solidFill>
                <a:latin typeface="Arial" panose="020B0604020202020204" pitchFamily="34" charset="0"/>
              </a:rPr>
              <a:t>RPC bật/tắt LED có command và feedback thực tế.</a:t>
            </a:r>
          </a:p>
        </p:txBody>
      </p:sp>
    </p:spTree>
    <p:extLst>
      <p:ext uri="{BB962C8B-B14F-4D97-AF65-F5344CB8AC3E}">
        <p14:creationId xmlns:p14="http://schemas.microsoft.com/office/powerpoint/2010/main" val="2227160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7F94CF91-C7A8-D23A-0583-E4F9A4199531}"/>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0721EA5F-8269-7D3C-4991-8DD9689D65B7}"/>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6DE19104-E547-D8D0-C863-81CDD22C1A6B}"/>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02 · KHÁI NIỆM ÁP DỤNG</a:t>
            </a:r>
          </a:p>
        </p:txBody>
      </p:sp>
      <p:sp>
        <p:nvSpPr>
          <p:cNvPr id="5" name="Hộp Văn bản 4">
            <a:extLst>
              <a:ext uri="{FF2B5EF4-FFF2-40B4-BE49-F238E27FC236}">
                <a16:creationId xmlns:a16="http://schemas.microsoft.com/office/drawing/2014/main" id="{B1D31ACD-7478-7DBC-DC53-6B0A1015AD9F}"/>
              </a:ext>
            </a:extLst>
          </p:cNvPr>
          <p:cNvSpPr txBox="1"/>
          <p:nvPr/>
        </p:nvSpPr>
        <p:spPr>
          <a:xfrm>
            <a:off x="609600" y="622300"/>
            <a:ext cx="10795000" cy="430887"/>
          </a:xfrm>
          <a:prstGeom prst="rect">
            <a:avLst/>
          </a:prstGeom>
          <a:noFill/>
        </p:spPr>
        <p:txBody>
          <a:bodyPr vert="horz" wrap="square" lIns="0" tIns="0" rIns="0" bIns="0" rtlCol="0">
            <a:spAutoFit/>
          </a:bodyPr>
          <a:lstStyle/>
          <a:p>
            <a:r>
              <a:rPr lang="fr-FR" sz="2800" b="1">
                <a:solidFill>
                  <a:srgbClr val="141E30"/>
                </a:solidFill>
                <a:latin typeface="Arial" panose="020B0604020202020204" pitchFamily="34" charset="0"/>
              </a:rPr>
              <a:t>Vì sao đây là Digital Twin?</a:t>
            </a:r>
            <a:endParaRPr lang="en-US" sz="2800" b="1">
              <a:solidFill>
                <a:srgbClr val="141E30"/>
              </a:solidFill>
              <a:latin typeface="Arial" panose="020B0604020202020204" pitchFamily="34" charset="0"/>
            </a:endParaRPr>
          </a:p>
        </p:txBody>
      </p:sp>
      <p:sp>
        <p:nvSpPr>
          <p:cNvPr id="6" name="Hình chữ nhật 5">
            <a:extLst>
              <a:ext uri="{FF2B5EF4-FFF2-40B4-BE49-F238E27FC236}">
                <a16:creationId xmlns:a16="http://schemas.microsoft.com/office/drawing/2014/main" id="{EFA131C7-EB5A-28CE-5ACA-589BF16E14D8}"/>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2768413F-2C52-DE00-BCBD-B3EAEBC325FF}"/>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A3FEFE87-8649-E006-184F-A4DDD8BA46FB}"/>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03</a:t>
            </a:r>
          </a:p>
        </p:txBody>
      </p:sp>
      <p:sp>
        <p:nvSpPr>
          <p:cNvPr id="9" name="Hình chữ nhật: Góc Tròn 8">
            <a:extLst>
              <a:ext uri="{FF2B5EF4-FFF2-40B4-BE49-F238E27FC236}">
                <a16:creationId xmlns:a16="http://schemas.microsoft.com/office/drawing/2014/main" id="{56EF2A10-3488-14FE-2940-8AC12B0DCB15}"/>
              </a:ext>
            </a:extLst>
          </p:cNvPr>
          <p:cNvSpPr/>
          <p:nvPr/>
        </p:nvSpPr>
        <p:spPr>
          <a:xfrm>
            <a:off x="609600" y="1701800"/>
            <a:ext cx="2489200" cy="1676400"/>
          </a:xfrm>
          <a:prstGeom prst="round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ình Bầu dục 9">
            <a:extLst>
              <a:ext uri="{FF2B5EF4-FFF2-40B4-BE49-F238E27FC236}">
                <a16:creationId xmlns:a16="http://schemas.microsoft.com/office/drawing/2014/main" id="{E64FE295-C6FF-FD07-AD83-FD5D421D11DE}"/>
              </a:ext>
            </a:extLst>
          </p:cNvPr>
          <p:cNvSpPr/>
          <p:nvPr/>
        </p:nvSpPr>
        <p:spPr>
          <a:xfrm>
            <a:off x="812800" y="1905000"/>
            <a:ext cx="381000" cy="3810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ộp Văn bản 10">
            <a:extLst>
              <a:ext uri="{FF2B5EF4-FFF2-40B4-BE49-F238E27FC236}">
                <a16:creationId xmlns:a16="http://schemas.microsoft.com/office/drawing/2014/main" id="{95527D29-FC84-5223-E148-EAE6798BEA84}"/>
              </a:ext>
            </a:extLst>
          </p:cNvPr>
          <p:cNvSpPr txBox="1"/>
          <p:nvPr/>
        </p:nvSpPr>
        <p:spPr>
          <a:xfrm>
            <a:off x="812800" y="1981200"/>
            <a:ext cx="381000" cy="169277"/>
          </a:xfrm>
          <a:prstGeom prst="rect">
            <a:avLst/>
          </a:prstGeom>
          <a:noFill/>
        </p:spPr>
        <p:txBody>
          <a:bodyPr vert="horz" wrap="square" lIns="0" tIns="0" rIns="0" bIns="0" rtlCol="0">
            <a:spAutoFit/>
          </a:bodyPr>
          <a:lstStyle/>
          <a:p>
            <a:pPr algn="ctr"/>
            <a:r>
              <a:rPr lang="en-US" sz="1100" b="1">
                <a:solidFill>
                  <a:srgbClr val="004D46"/>
                </a:solidFill>
                <a:latin typeface="Arial" panose="020B0604020202020204" pitchFamily="34" charset="0"/>
              </a:rPr>
              <a:t>1</a:t>
            </a:r>
          </a:p>
        </p:txBody>
      </p:sp>
      <p:sp>
        <p:nvSpPr>
          <p:cNvPr id="12" name="Hộp Văn bản 11">
            <a:extLst>
              <a:ext uri="{FF2B5EF4-FFF2-40B4-BE49-F238E27FC236}">
                <a16:creationId xmlns:a16="http://schemas.microsoft.com/office/drawing/2014/main" id="{930D3215-F810-DDF8-642F-EA8D6CF26F6E}"/>
              </a:ext>
            </a:extLst>
          </p:cNvPr>
          <p:cNvSpPr txBox="1"/>
          <p:nvPr/>
        </p:nvSpPr>
        <p:spPr>
          <a:xfrm>
            <a:off x="1320800" y="1917700"/>
            <a:ext cx="1600200" cy="246221"/>
          </a:xfrm>
          <a:prstGeom prst="rect">
            <a:avLst/>
          </a:prstGeom>
          <a:noFill/>
        </p:spPr>
        <p:txBody>
          <a:bodyPr vert="horz" wrap="square" lIns="0" tIns="0" rIns="0" bIns="0" rtlCol="0">
            <a:spAutoFit/>
          </a:bodyPr>
          <a:lstStyle/>
          <a:p>
            <a:r>
              <a:rPr lang="en-US" sz="1600" b="1">
                <a:solidFill>
                  <a:srgbClr val="FFFFFF"/>
                </a:solidFill>
                <a:latin typeface="Arial" panose="020B0604020202020204" pitchFamily="34" charset="0"/>
              </a:rPr>
              <a:t>IDENTITY</a:t>
            </a:r>
          </a:p>
        </p:txBody>
      </p:sp>
      <p:sp>
        <p:nvSpPr>
          <p:cNvPr id="13" name="Hộp Văn bản 12">
            <a:extLst>
              <a:ext uri="{FF2B5EF4-FFF2-40B4-BE49-F238E27FC236}">
                <a16:creationId xmlns:a16="http://schemas.microsoft.com/office/drawing/2014/main" id="{D3E3824A-1516-0D9E-6D93-2BAFE2CFBEFB}"/>
              </a:ext>
            </a:extLst>
          </p:cNvPr>
          <p:cNvSpPr txBox="1"/>
          <p:nvPr/>
        </p:nvSpPr>
        <p:spPr>
          <a:xfrm>
            <a:off x="812800" y="2438400"/>
            <a:ext cx="2082800" cy="369332"/>
          </a:xfrm>
          <a:prstGeom prst="rect">
            <a:avLst/>
          </a:prstGeom>
          <a:noFill/>
        </p:spPr>
        <p:txBody>
          <a:bodyPr vert="horz" wrap="square" lIns="0" tIns="0" rIns="0" bIns="0" rtlCol="0">
            <a:spAutoFit/>
          </a:bodyPr>
          <a:lstStyle/>
          <a:p>
            <a:r>
              <a:rPr lang="en-US" sz="1200">
                <a:solidFill>
                  <a:srgbClr val="FFFFFF"/>
                </a:solidFill>
                <a:latin typeface="Arial" panose="020B0604020202020204" pitchFamily="34" charset="0"/>
              </a:rPr>
              <a:t>Asset kho và Device ESP32 có định danh riêng.</a:t>
            </a:r>
          </a:p>
        </p:txBody>
      </p:sp>
      <p:sp>
        <p:nvSpPr>
          <p:cNvPr id="14" name="Hình chữ nhật: Góc Tròn 13">
            <a:extLst>
              <a:ext uri="{FF2B5EF4-FFF2-40B4-BE49-F238E27FC236}">
                <a16:creationId xmlns:a16="http://schemas.microsoft.com/office/drawing/2014/main" id="{56AF97BF-847C-3753-F7A4-DBE959CEF0B4}"/>
              </a:ext>
            </a:extLst>
          </p:cNvPr>
          <p:cNvSpPr/>
          <p:nvPr/>
        </p:nvSpPr>
        <p:spPr>
          <a:xfrm>
            <a:off x="3302000" y="1701800"/>
            <a:ext cx="2489200" cy="1676400"/>
          </a:xfrm>
          <a:prstGeom prst="roundRect">
            <a:avLst/>
          </a:prstGeom>
          <a:solidFill>
            <a:srgbClr val="00897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ình Bầu dục 14">
            <a:extLst>
              <a:ext uri="{FF2B5EF4-FFF2-40B4-BE49-F238E27FC236}">
                <a16:creationId xmlns:a16="http://schemas.microsoft.com/office/drawing/2014/main" id="{529A811E-C0AF-F6C2-9407-AC0A8F2ED566}"/>
              </a:ext>
            </a:extLst>
          </p:cNvPr>
          <p:cNvSpPr/>
          <p:nvPr/>
        </p:nvSpPr>
        <p:spPr>
          <a:xfrm>
            <a:off x="3505200" y="1905000"/>
            <a:ext cx="381000" cy="3810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ộp Văn bản 15">
            <a:extLst>
              <a:ext uri="{FF2B5EF4-FFF2-40B4-BE49-F238E27FC236}">
                <a16:creationId xmlns:a16="http://schemas.microsoft.com/office/drawing/2014/main" id="{9533F425-993E-064C-8C94-B0B249DD68AD}"/>
              </a:ext>
            </a:extLst>
          </p:cNvPr>
          <p:cNvSpPr txBox="1"/>
          <p:nvPr/>
        </p:nvSpPr>
        <p:spPr>
          <a:xfrm>
            <a:off x="3505200" y="1981200"/>
            <a:ext cx="381000" cy="169277"/>
          </a:xfrm>
          <a:prstGeom prst="rect">
            <a:avLst/>
          </a:prstGeom>
          <a:noFill/>
        </p:spPr>
        <p:txBody>
          <a:bodyPr vert="horz" wrap="square" lIns="0" tIns="0" rIns="0" bIns="0" rtlCol="0">
            <a:spAutoFit/>
          </a:bodyPr>
          <a:lstStyle/>
          <a:p>
            <a:pPr algn="ctr"/>
            <a:r>
              <a:rPr lang="en-US" sz="1100" b="1">
                <a:solidFill>
                  <a:srgbClr val="004D46"/>
                </a:solidFill>
                <a:latin typeface="Arial" panose="020B0604020202020204" pitchFamily="34" charset="0"/>
              </a:rPr>
              <a:t>2</a:t>
            </a:r>
          </a:p>
        </p:txBody>
      </p:sp>
      <p:sp>
        <p:nvSpPr>
          <p:cNvPr id="17" name="Hộp Văn bản 16">
            <a:extLst>
              <a:ext uri="{FF2B5EF4-FFF2-40B4-BE49-F238E27FC236}">
                <a16:creationId xmlns:a16="http://schemas.microsoft.com/office/drawing/2014/main" id="{241CA3EA-DF20-9A65-2271-F5C7539E93BE}"/>
              </a:ext>
            </a:extLst>
          </p:cNvPr>
          <p:cNvSpPr txBox="1"/>
          <p:nvPr/>
        </p:nvSpPr>
        <p:spPr>
          <a:xfrm>
            <a:off x="4013200" y="1917700"/>
            <a:ext cx="1600200" cy="246221"/>
          </a:xfrm>
          <a:prstGeom prst="rect">
            <a:avLst/>
          </a:prstGeom>
          <a:noFill/>
        </p:spPr>
        <p:txBody>
          <a:bodyPr vert="horz" wrap="square" lIns="0" tIns="0" rIns="0" bIns="0" rtlCol="0">
            <a:spAutoFit/>
          </a:bodyPr>
          <a:lstStyle/>
          <a:p>
            <a:r>
              <a:rPr lang="en-US" sz="1600" b="1">
                <a:solidFill>
                  <a:srgbClr val="FFFFFF"/>
                </a:solidFill>
                <a:latin typeface="Arial" panose="020B0604020202020204" pitchFamily="34" charset="0"/>
              </a:rPr>
              <a:t>STATE</a:t>
            </a:r>
          </a:p>
        </p:txBody>
      </p:sp>
      <p:sp>
        <p:nvSpPr>
          <p:cNvPr id="18" name="Hộp Văn bản 17">
            <a:extLst>
              <a:ext uri="{FF2B5EF4-FFF2-40B4-BE49-F238E27FC236}">
                <a16:creationId xmlns:a16="http://schemas.microsoft.com/office/drawing/2014/main" id="{0CA39ECD-098F-8B48-6D91-ED53D8ED4CD4}"/>
              </a:ext>
            </a:extLst>
          </p:cNvPr>
          <p:cNvSpPr txBox="1"/>
          <p:nvPr/>
        </p:nvSpPr>
        <p:spPr>
          <a:xfrm>
            <a:off x="3505200" y="2438400"/>
            <a:ext cx="2082800" cy="369332"/>
          </a:xfrm>
          <a:prstGeom prst="rect">
            <a:avLst/>
          </a:prstGeom>
          <a:noFill/>
        </p:spPr>
        <p:txBody>
          <a:bodyPr vert="horz" wrap="square" lIns="0" tIns="0" rIns="0" bIns="0" rtlCol="0">
            <a:spAutoFit/>
          </a:bodyPr>
          <a:lstStyle/>
          <a:p>
            <a:r>
              <a:rPr lang="en-US" sz="1200">
                <a:solidFill>
                  <a:srgbClr val="FFFFFF"/>
                </a:solidFill>
                <a:latin typeface="Arial" panose="020B0604020202020204" pitchFamily="34" charset="0"/>
              </a:rPr>
              <a:t>Trạng thái hiện tại, lịch sử và health score.</a:t>
            </a:r>
          </a:p>
        </p:txBody>
      </p:sp>
      <p:sp>
        <p:nvSpPr>
          <p:cNvPr id="19" name="Hình chữ nhật: Góc Tròn 18">
            <a:extLst>
              <a:ext uri="{FF2B5EF4-FFF2-40B4-BE49-F238E27FC236}">
                <a16:creationId xmlns:a16="http://schemas.microsoft.com/office/drawing/2014/main" id="{66FFC298-90C1-60B1-8857-0FD916BB10EB}"/>
              </a:ext>
            </a:extLst>
          </p:cNvPr>
          <p:cNvSpPr/>
          <p:nvPr/>
        </p:nvSpPr>
        <p:spPr>
          <a:xfrm>
            <a:off x="5994400" y="1701800"/>
            <a:ext cx="2489200" cy="1676400"/>
          </a:xfrm>
          <a:prstGeom prst="roundRect">
            <a:avLst/>
          </a:prstGeom>
          <a:solidFill>
            <a:srgbClr val="2077B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ình Bầu dục 19">
            <a:extLst>
              <a:ext uri="{FF2B5EF4-FFF2-40B4-BE49-F238E27FC236}">
                <a16:creationId xmlns:a16="http://schemas.microsoft.com/office/drawing/2014/main" id="{20483895-4709-708F-907A-0A195ED489CE}"/>
              </a:ext>
            </a:extLst>
          </p:cNvPr>
          <p:cNvSpPr/>
          <p:nvPr/>
        </p:nvSpPr>
        <p:spPr>
          <a:xfrm>
            <a:off x="6197600" y="1905000"/>
            <a:ext cx="381000" cy="3810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Hộp Văn bản 20">
            <a:extLst>
              <a:ext uri="{FF2B5EF4-FFF2-40B4-BE49-F238E27FC236}">
                <a16:creationId xmlns:a16="http://schemas.microsoft.com/office/drawing/2014/main" id="{0EC1E795-17C1-284C-B905-AEADC2A81119}"/>
              </a:ext>
            </a:extLst>
          </p:cNvPr>
          <p:cNvSpPr txBox="1"/>
          <p:nvPr/>
        </p:nvSpPr>
        <p:spPr>
          <a:xfrm>
            <a:off x="6197600" y="1981200"/>
            <a:ext cx="381000" cy="169277"/>
          </a:xfrm>
          <a:prstGeom prst="rect">
            <a:avLst/>
          </a:prstGeom>
          <a:noFill/>
        </p:spPr>
        <p:txBody>
          <a:bodyPr vert="horz" wrap="square" lIns="0" tIns="0" rIns="0" bIns="0" rtlCol="0">
            <a:spAutoFit/>
          </a:bodyPr>
          <a:lstStyle/>
          <a:p>
            <a:pPr algn="ctr"/>
            <a:r>
              <a:rPr lang="en-US" sz="1100" b="1">
                <a:solidFill>
                  <a:srgbClr val="004D46"/>
                </a:solidFill>
                <a:latin typeface="Arial" panose="020B0604020202020204" pitchFamily="34" charset="0"/>
              </a:rPr>
              <a:t>3</a:t>
            </a:r>
          </a:p>
        </p:txBody>
      </p:sp>
      <p:sp>
        <p:nvSpPr>
          <p:cNvPr id="22" name="Hộp Văn bản 21">
            <a:extLst>
              <a:ext uri="{FF2B5EF4-FFF2-40B4-BE49-F238E27FC236}">
                <a16:creationId xmlns:a16="http://schemas.microsoft.com/office/drawing/2014/main" id="{F1E140D5-6026-20FF-BBDD-B87BD48341E0}"/>
              </a:ext>
            </a:extLst>
          </p:cNvPr>
          <p:cNvSpPr txBox="1"/>
          <p:nvPr/>
        </p:nvSpPr>
        <p:spPr>
          <a:xfrm>
            <a:off x="6705600" y="1917700"/>
            <a:ext cx="1600200" cy="246221"/>
          </a:xfrm>
          <a:prstGeom prst="rect">
            <a:avLst/>
          </a:prstGeom>
          <a:noFill/>
        </p:spPr>
        <p:txBody>
          <a:bodyPr vert="horz" wrap="square" lIns="0" tIns="0" rIns="0" bIns="0" rtlCol="0">
            <a:spAutoFit/>
          </a:bodyPr>
          <a:lstStyle/>
          <a:p>
            <a:r>
              <a:rPr lang="en-US" sz="1600" b="1">
                <a:solidFill>
                  <a:srgbClr val="FFFFFF"/>
                </a:solidFill>
                <a:latin typeface="Arial" panose="020B0604020202020204" pitchFamily="34" charset="0"/>
              </a:rPr>
              <a:t>BEHAVIOR</a:t>
            </a:r>
          </a:p>
        </p:txBody>
      </p:sp>
      <p:sp>
        <p:nvSpPr>
          <p:cNvPr id="23" name="Hộp Văn bản 22">
            <a:extLst>
              <a:ext uri="{FF2B5EF4-FFF2-40B4-BE49-F238E27FC236}">
                <a16:creationId xmlns:a16="http://schemas.microsoft.com/office/drawing/2014/main" id="{203A305B-52A6-93F8-F665-FA5F64784E54}"/>
              </a:ext>
            </a:extLst>
          </p:cNvPr>
          <p:cNvSpPr txBox="1"/>
          <p:nvPr/>
        </p:nvSpPr>
        <p:spPr>
          <a:xfrm>
            <a:off x="6197600" y="2438400"/>
            <a:ext cx="2082800" cy="369332"/>
          </a:xfrm>
          <a:prstGeom prst="rect">
            <a:avLst/>
          </a:prstGeom>
          <a:noFill/>
        </p:spPr>
        <p:txBody>
          <a:bodyPr vert="horz" wrap="square" lIns="0" tIns="0" rIns="0" bIns="0" rtlCol="0">
            <a:spAutoFit/>
          </a:bodyPr>
          <a:lstStyle/>
          <a:p>
            <a:r>
              <a:rPr lang="vi-VN" sz="1200">
                <a:solidFill>
                  <a:srgbClr val="FFFFFF"/>
                </a:solidFill>
                <a:latin typeface="Arial" panose="020B0604020202020204" pitchFamily="34" charset="0"/>
              </a:rPr>
              <a:t>State machine và luật phát hiện bất thường.</a:t>
            </a:r>
            <a:endParaRPr lang="en-US" sz="1200">
              <a:solidFill>
                <a:srgbClr val="FFFFFF"/>
              </a:solidFill>
              <a:latin typeface="Arial" panose="020B0604020202020204" pitchFamily="34" charset="0"/>
            </a:endParaRPr>
          </a:p>
        </p:txBody>
      </p:sp>
      <p:sp>
        <p:nvSpPr>
          <p:cNvPr id="24" name="Hình chữ nhật: Góc Tròn 23">
            <a:extLst>
              <a:ext uri="{FF2B5EF4-FFF2-40B4-BE49-F238E27FC236}">
                <a16:creationId xmlns:a16="http://schemas.microsoft.com/office/drawing/2014/main" id="{B9DC9271-AC01-0FF4-732C-FF48A76F5E0F}"/>
              </a:ext>
            </a:extLst>
          </p:cNvPr>
          <p:cNvSpPr/>
          <p:nvPr/>
        </p:nvSpPr>
        <p:spPr>
          <a:xfrm>
            <a:off x="8686800" y="1701800"/>
            <a:ext cx="2895600" cy="1676400"/>
          </a:xfrm>
          <a:prstGeom prst="roundRect">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Hình Bầu dục 24">
            <a:extLst>
              <a:ext uri="{FF2B5EF4-FFF2-40B4-BE49-F238E27FC236}">
                <a16:creationId xmlns:a16="http://schemas.microsoft.com/office/drawing/2014/main" id="{B1D68C37-36C0-2D64-013D-A71498E67F7B}"/>
              </a:ext>
            </a:extLst>
          </p:cNvPr>
          <p:cNvSpPr/>
          <p:nvPr/>
        </p:nvSpPr>
        <p:spPr>
          <a:xfrm>
            <a:off x="8890000" y="1905000"/>
            <a:ext cx="381000" cy="3810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ộp Văn bản 25">
            <a:extLst>
              <a:ext uri="{FF2B5EF4-FFF2-40B4-BE49-F238E27FC236}">
                <a16:creationId xmlns:a16="http://schemas.microsoft.com/office/drawing/2014/main" id="{3E86F07F-DF4C-ED48-3C23-7F2A195DCA21}"/>
              </a:ext>
            </a:extLst>
          </p:cNvPr>
          <p:cNvSpPr txBox="1"/>
          <p:nvPr/>
        </p:nvSpPr>
        <p:spPr>
          <a:xfrm>
            <a:off x="8890000" y="1981200"/>
            <a:ext cx="381000" cy="169277"/>
          </a:xfrm>
          <a:prstGeom prst="rect">
            <a:avLst/>
          </a:prstGeom>
          <a:noFill/>
        </p:spPr>
        <p:txBody>
          <a:bodyPr vert="horz" wrap="square" lIns="0" tIns="0" rIns="0" bIns="0" rtlCol="0">
            <a:spAutoFit/>
          </a:bodyPr>
          <a:lstStyle/>
          <a:p>
            <a:pPr algn="ctr"/>
            <a:r>
              <a:rPr lang="en-US" sz="1100" b="1">
                <a:solidFill>
                  <a:srgbClr val="004D46"/>
                </a:solidFill>
                <a:latin typeface="Arial" panose="020B0604020202020204" pitchFamily="34" charset="0"/>
              </a:rPr>
              <a:t>4</a:t>
            </a:r>
          </a:p>
        </p:txBody>
      </p:sp>
      <p:sp>
        <p:nvSpPr>
          <p:cNvPr id="27" name="Hộp Văn bản 26">
            <a:extLst>
              <a:ext uri="{FF2B5EF4-FFF2-40B4-BE49-F238E27FC236}">
                <a16:creationId xmlns:a16="http://schemas.microsoft.com/office/drawing/2014/main" id="{3474C44E-7676-86E8-D482-DFEFA3257463}"/>
              </a:ext>
            </a:extLst>
          </p:cNvPr>
          <p:cNvSpPr txBox="1"/>
          <p:nvPr/>
        </p:nvSpPr>
        <p:spPr>
          <a:xfrm>
            <a:off x="9398000" y="1917700"/>
            <a:ext cx="2006600" cy="246221"/>
          </a:xfrm>
          <a:prstGeom prst="rect">
            <a:avLst/>
          </a:prstGeom>
          <a:noFill/>
        </p:spPr>
        <p:txBody>
          <a:bodyPr vert="horz" wrap="square" lIns="0" tIns="0" rIns="0" bIns="0" rtlCol="0">
            <a:spAutoFit/>
          </a:bodyPr>
          <a:lstStyle/>
          <a:p>
            <a:r>
              <a:rPr lang="en-US" sz="1600" b="1">
                <a:solidFill>
                  <a:srgbClr val="FFFFFF"/>
                </a:solidFill>
                <a:latin typeface="Arial" panose="020B0604020202020204" pitchFamily="34" charset="0"/>
              </a:rPr>
              <a:t>FEEDBACK</a:t>
            </a:r>
          </a:p>
        </p:txBody>
      </p:sp>
      <p:sp>
        <p:nvSpPr>
          <p:cNvPr id="28" name="Hộp Văn bản 27">
            <a:extLst>
              <a:ext uri="{FF2B5EF4-FFF2-40B4-BE49-F238E27FC236}">
                <a16:creationId xmlns:a16="http://schemas.microsoft.com/office/drawing/2014/main" id="{A0D638D0-EFD1-D570-A236-8F77A2A7191B}"/>
              </a:ext>
            </a:extLst>
          </p:cNvPr>
          <p:cNvSpPr txBox="1"/>
          <p:nvPr/>
        </p:nvSpPr>
        <p:spPr>
          <a:xfrm>
            <a:off x="8890000" y="2438400"/>
            <a:ext cx="2489200" cy="369332"/>
          </a:xfrm>
          <a:prstGeom prst="rect">
            <a:avLst/>
          </a:prstGeom>
          <a:noFill/>
        </p:spPr>
        <p:txBody>
          <a:bodyPr vert="horz" wrap="square" lIns="0" tIns="0" rIns="0" bIns="0" rtlCol="0">
            <a:spAutoFit/>
          </a:bodyPr>
          <a:lstStyle/>
          <a:p>
            <a:r>
              <a:rPr lang="en-US" sz="1200">
                <a:solidFill>
                  <a:srgbClr val="FFFFFF"/>
                </a:solidFill>
                <a:latin typeface="Arial" panose="020B0604020202020204" pitchFamily="34" charset="0"/>
              </a:rPr>
              <a:t>RPC LED: expected state được đối chiếu observed state.</a:t>
            </a:r>
          </a:p>
        </p:txBody>
      </p:sp>
      <p:sp>
        <p:nvSpPr>
          <p:cNvPr id="29" name="Hình chữ nhật: Góc Tròn 28">
            <a:extLst>
              <a:ext uri="{FF2B5EF4-FFF2-40B4-BE49-F238E27FC236}">
                <a16:creationId xmlns:a16="http://schemas.microsoft.com/office/drawing/2014/main" id="{C809F63C-E94E-7C7B-F71D-2511A3A320E9}"/>
              </a:ext>
            </a:extLst>
          </p:cNvPr>
          <p:cNvSpPr/>
          <p:nvPr/>
        </p:nvSpPr>
        <p:spPr>
          <a:xfrm>
            <a:off x="609600" y="3784600"/>
            <a:ext cx="10972800" cy="19050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Hộp Văn bản 29">
            <a:extLst>
              <a:ext uri="{FF2B5EF4-FFF2-40B4-BE49-F238E27FC236}">
                <a16:creationId xmlns:a16="http://schemas.microsoft.com/office/drawing/2014/main" id="{D916549C-9386-3C35-A3FC-8682CF8C43F1}"/>
              </a:ext>
            </a:extLst>
          </p:cNvPr>
          <p:cNvSpPr txBox="1"/>
          <p:nvPr/>
        </p:nvSpPr>
        <p:spPr>
          <a:xfrm>
            <a:off x="990600" y="4089400"/>
            <a:ext cx="4508500" cy="323165"/>
          </a:xfrm>
          <a:prstGeom prst="rect">
            <a:avLst/>
          </a:prstGeom>
          <a:noFill/>
        </p:spPr>
        <p:txBody>
          <a:bodyPr vert="horz" wrap="square" lIns="0" tIns="0" rIns="0" bIns="0" rtlCol="0">
            <a:spAutoFit/>
          </a:bodyPr>
          <a:lstStyle/>
          <a:p>
            <a:r>
              <a:rPr lang="en-US" sz="2100" b="1">
                <a:solidFill>
                  <a:srgbClr val="141E30"/>
                </a:solidFill>
                <a:latin typeface="Arial" panose="020B0604020202020204" pitchFamily="34" charset="0"/>
              </a:rPr>
              <a:t>Không chỉ là biểu đồ cảm biến</a:t>
            </a:r>
          </a:p>
        </p:txBody>
      </p:sp>
      <p:sp>
        <p:nvSpPr>
          <p:cNvPr id="31" name="Hộp Văn bản 30">
            <a:extLst>
              <a:ext uri="{FF2B5EF4-FFF2-40B4-BE49-F238E27FC236}">
                <a16:creationId xmlns:a16="http://schemas.microsoft.com/office/drawing/2014/main" id="{AEAA5792-8777-1A3D-3EC4-0547E84A21D8}"/>
              </a:ext>
            </a:extLst>
          </p:cNvPr>
          <p:cNvSpPr txBox="1"/>
          <p:nvPr/>
        </p:nvSpPr>
        <p:spPr>
          <a:xfrm>
            <a:off x="990600" y="4635500"/>
            <a:ext cx="9525000" cy="553998"/>
          </a:xfrm>
          <a:prstGeom prst="rect">
            <a:avLst/>
          </a:prstGeom>
          <a:noFill/>
        </p:spPr>
        <p:txBody>
          <a:bodyPr vert="horz" wrap="square" lIns="0" tIns="0" rIns="0" bIns="0" rtlCol="0">
            <a:spAutoFit/>
          </a:bodyPr>
          <a:lstStyle/>
          <a:p>
            <a:r>
              <a:rPr lang="en-US">
                <a:solidFill>
                  <a:srgbClr val="495869"/>
                </a:solidFill>
                <a:latin typeface="Arial" panose="020B0604020202020204" pitchFamily="34" charset="0"/>
              </a:rPr>
              <a:t>Twin tổng hợp dữ liệu vật lý → ngữ cảnh entity/relation → trạng thái nghiệp vụ → alarm → hành động điều khiển → telemetry xác nhận.</a:t>
            </a:r>
          </a:p>
        </p:txBody>
      </p:sp>
    </p:spTree>
    <p:extLst>
      <p:ext uri="{BB962C8B-B14F-4D97-AF65-F5344CB8AC3E}">
        <p14:creationId xmlns:p14="http://schemas.microsoft.com/office/powerpoint/2010/main" val="2891238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02282205-A61E-2C09-D2C4-CF3315E0CC1F}"/>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0BA15A28-4679-BE2D-548E-7F62F4C924E6}"/>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ED30C386-5B3D-4242-AF69-E0C65EE2E95C}"/>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03 · KIẾN TRÚC</a:t>
            </a:r>
          </a:p>
        </p:txBody>
      </p:sp>
      <p:sp>
        <p:nvSpPr>
          <p:cNvPr id="5" name="Hộp Văn bản 4">
            <a:extLst>
              <a:ext uri="{FF2B5EF4-FFF2-40B4-BE49-F238E27FC236}">
                <a16:creationId xmlns:a16="http://schemas.microsoft.com/office/drawing/2014/main" id="{0F1CC4D2-EA4E-F1BD-4388-E6C624BD6895}"/>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Kiến trúc tổng thể</a:t>
            </a:r>
          </a:p>
        </p:txBody>
      </p:sp>
      <p:sp>
        <p:nvSpPr>
          <p:cNvPr id="6" name="Hình chữ nhật 5">
            <a:extLst>
              <a:ext uri="{FF2B5EF4-FFF2-40B4-BE49-F238E27FC236}">
                <a16:creationId xmlns:a16="http://schemas.microsoft.com/office/drawing/2014/main" id="{C17946F5-889C-CF04-5F7A-E11D71DCAC39}"/>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614CAFBE-F0EF-5B5F-7EF9-C1D3E30F3FAB}"/>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868103FA-CFF3-C9EE-97F7-22987495920E}"/>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04</a:t>
            </a:r>
          </a:p>
        </p:txBody>
      </p:sp>
      <p:sp>
        <p:nvSpPr>
          <p:cNvPr id="9" name="Hình chữ nhật: Góc Tròn 8">
            <a:extLst>
              <a:ext uri="{FF2B5EF4-FFF2-40B4-BE49-F238E27FC236}">
                <a16:creationId xmlns:a16="http://schemas.microsoft.com/office/drawing/2014/main" id="{97943D37-9E2F-9018-0DB8-6F6A366C3697}"/>
              </a:ext>
            </a:extLst>
          </p:cNvPr>
          <p:cNvSpPr/>
          <p:nvPr/>
        </p:nvSpPr>
        <p:spPr>
          <a:xfrm>
            <a:off x="609600" y="1422400"/>
            <a:ext cx="10972800" cy="47498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Hình ảnh 10">
            <a:extLst>
              <a:ext uri="{FF2B5EF4-FFF2-40B4-BE49-F238E27FC236}">
                <a16:creationId xmlns:a16="http://schemas.microsoft.com/office/drawing/2014/main" id="{46B1C331-DCC2-2CAD-9B17-C4E4665331E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153816" y="1600200"/>
            <a:ext cx="7884368" cy="4292600"/>
          </a:xfrm>
          <a:prstGeom prst="rect">
            <a:avLst/>
          </a:prstGeom>
        </p:spPr>
      </p:pic>
    </p:spTree>
    <p:extLst>
      <p:ext uri="{BB962C8B-B14F-4D97-AF65-F5344CB8AC3E}">
        <p14:creationId xmlns:p14="http://schemas.microsoft.com/office/powerpoint/2010/main" val="295039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A53F92A8-D1BD-BEE4-34A8-A5745042A244}"/>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18EC2B4F-71DD-D932-89FF-91B04EFCF66C}"/>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7D7EBCC2-F534-D500-4BBA-1BEF0D76E11B}"/>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04 · PHẦN CỨNG</a:t>
            </a:r>
          </a:p>
        </p:txBody>
      </p:sp>
      <p:sp>
        <p:nvSpPr>
          <p:cNvPr id="5" name="Hộp Văn bản 4">
            <a:extLst>
              <a:ext uri="{FF2B5EF4-FFF2-40B4-BE49-F238E27FC236}">
                <a16:creationId xmlns:a16="http://schemas.microsoft.com/office/drawing/2014/main" id="{6F39690D-08D1-20B4-1D14-0D8B82FA81BE}"/>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Node vật lý / mô phỏng</a:t>
            </a:r>
          </a:p>
        </p:txBody>
      </p:sp>
      <p:sp>
        <p:nvSpPr>
          <p:cNvPr id="6" name="Hình chữ nhật 5">
            <a:extLst>
              <a:ext uri="{FF2B5EF4-FFF2-40B4-BE49-F238E27FC236}">
                <a16:creationId xmlns:a16="http://schemas.microsoft.com/office/drawing/2014/main" id="{0B74EC98-AE7C-71B9-1D31-C0393CD40011}"/>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47598DBD-85A2-964A-D6B2-8C02CB55669E}"/>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DB8B920C-A3D1-1258-F303-BB188A0DFA3D}"/>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05</a:t>
            </a:r>
          </a:p>
        </p:txBody>
      </p:sp>
      <p:sp>
        <p:nvSpPr>
          <p:cNvPr id="9" name="Hình chữ nhật: Góc Tròn 8">
            <a:extLst>
              <a:ext uri="{FF2B5EF4-FFF2-40B4-BE49-F238E27FC236}">
                <a16:creationId xmlns:a16="http://schemas.microsoft.com/office/drawing/2014/main" id="{42C12E2E-3A55-A120-929D-28891145BF99}"/>
              </a:ext>
            </a:extLst>
          </p:cNvPr>
          <p:cNvSpPr/>
          <p:nvPr/>
        </p:nvSpPr>
        <p:spPr>
          <a:xfrm>
            <a:off x="609600" y="1473200"/>
            <a:ext cx="7366000" cy="44958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Hình ảnh 10">
            <a:extLst>
              <a:ext uri="{FF2B5EF4-FFF2-40B4-BE49-F238E27FC236}">
                <a16:creationId xmlns:a16="http://schemas.microsoft.com/office/drawing/2014/main" id="{4ED95703-2205-5A3B-1C4A-A9BA35E1584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87400" y="1955800"/>
            <a:ext cx="7010400" cy="3505200"/>
          </a:xfrm>
          <a:prstGeom prst="rect">
            <a:avLst/>
          </a:prstGeom>
        </p:spPr>
      </p:pic>
      <p:sp>
        <p:nvSpPr>
          <p:cNvPr id="12" name="Hình chữ nhật: Góc Tròn 11">
            <a:extLst>
              <a:ext uri="{FF2B5EF4-FFF2-40B4-BE49-F238E27FC236}">
                <a16:creationId xmlns:a16="http://schemas.microsoft.com/office/drawing/2014/main" id="{742ACD4B-2FB5-4FA8-A43B-7F008313F770}"/>
              </a:ext>
            </a:extLst>
          </p:cNvPr>
          <p:cNvSpPr/>
          <p:nvPr/>
        </p:nvSpPr>
        <p:spPr>
          <a:xfrm>
            <a:off x="8255000" y="1473200"/>
            <a:ext cx="3327400" cy="44958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Hộp Văn bản 12">
            <a:extLst>
              <a:ext uri="{FF2B5EF4-FFF2-40B4-BE49-F238E27FC236}">
                <a16:creationId xmlns:a16="http://schemas.microsoft.com/office/drawing/2014/main" id="{52B41AA9-3926-9805-D0A9-B6B5B7B4A066}"/>
              </a:ext>
            </a:extLst>
          </p:cNvPr>
          <p:cNvSpPr txBox="1"/>
          <p:nvPr/>
        </p:nvSpPr>
        <p:spPr>
          <a:xfrm>
            <a:off x="8585200" y="1803400"/>
            <a:ext cx="2667000" cy="307777"/>
          </a:xfrm>
          <a:prstGeom prst="rect">
            <a:avLst/>
          </a:prstGeom>
          <a:noFill/>
        </p:spPr>
        <p:txBody>
          <a:bodyPr vert="horz" wrap="square" lIns="0" tIns="0" rIns="0" bIns="0" rtlCol="0">
            <a:spAutoFit/>
          </a:bodyPr>
          <a:lstStyle/>
          <a:p>
            <a:r>
              <a:rPr lang="en-US" sz="2000" b="1">
                <a:solidFill>
                  <a:srgbClr val="004D46"/>
                </a:solidFill>
                <a:latin typeface="Arial" panose="020B0604020202020204" pitchFamily="34" charset="0"/>
              </a:rPr>
              <a:t>ESP32 DevKit V1</a:t>
            </a:r>
          </a:p>
        </p:txBody>
      </p:sp>
      <p:sp>
        <p:nvSpPr>
          <p:cNvPr id="14" name="Hình Bầu dục 13">
            <a:extLst>
              <a:ext uri="{FF2B5EF4-FFF2-40B4-BE49-F238E27FC236}">
                <a16:creationId xmlns:a16="http://schemas.microsoft.com/office/drawing/2014/main" id="{DC6653CB-C19B-9E81-B3DA-1CF84436AD89}"/>
              </a:ext>
            </a:extLst>
          </p:cNvPr>
          <p:cNvSpPr/>
          <p:nvPr/>
        </p:nvSpPr>
        <p:spPr>
          <a:xfrm>
            <a:off x="8585200" y="25019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ộp Văn bản 14">
            <a:extLst>
              <a:ext uri="{FF2B5EF4-FFF2-40B4-BE49-F238E27FC236}">
                <a16:creationId xmlns:a16="http://schemas.microsoft.com/office/drawing/2014/main" id="{11627597-E575-3637-5956-924E41086144}"/>
              </a:ext>
            </a:extLst>
          </p:cNvPr>
          <p:cNvSpPr txBox="1"/>
          <p:nvPr/>
        </p:nvSpPr>
        <p:spPr>
          <a:xfrm>
            <a:off x="8839200" y="2413000"/>
            <a:ext cx="2349500" cy="230832"/>
          </a:xfrm>
          <a:prstGeom prst="rect">
            <a:avLst/>
          </a:prstGeom>
          <a:noFill/>
        </p:spPr>
        <p:txBody>
          <a:bodyPr vert="horz" wrap="square" lIns="0" tIns="0" rIns="0" bIns="0" rtlCol="0">
            <a:spAutoFit/>
          </a:bodyPr>
          <a:lstStyle/>
          <a:p>
            <a:r>
              <a:rPr lang="en-US" sz="1500">
                <a:solidFill>
                  <a:srgbClr val="141E30"/>
                </a:solidFill>
                <a:latin typeface="Arial" panose="020B0604020202020204" pitchFamily="34" charset="0"/>
              </a:rPr>
              <a:t>DHT22: nhiệt độ, độ ẩm</a:t>
            </a:r>
          </a:p>
        </p:txBody>
      </p:sp>
      <p:sp>
        <p:nvSpPr>
          <p:cNvPr id="16" name="Hình Bầu dục 15">
            <a:extLst>
              <a:ext uri="{FF2B5EF4-FFF2-40B4-BE49-F238E27FC236}">
                <a16:creationId xmlns:a16="http://schemas.microsoft.com/office/drawing/2014/main" id="{AB1FAED6-4AA6-E2F0-B19C-96FDF47BAB8B}"/>
              </a:ext>
            </a:extLst>
          </p:cNvPr>
          <p:cNvSpPr/>
          <p:nvPr/>
        </p:nvSpPr>
        <p:spPr>
          <a:xfrm>
            <a:off x="8585200" y="31115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Hộp Văn bản 16">
            <a:extLst>
              <a:ext uri="{FF2B5EF4-FFF2-40B4-BE49-F238E27FC236}">
                <a16:creationId xmlns:a16="http://schemas.microsoft.com/office/drawing/2014/main" id="{EC1B3EAC-BBB4-A23F-27E9-5CFA70EED1AB}"/>
              </a:ext>
            </a:extLst>
          </p:cNvPr>
          <p:cNvSpPr txBox="1"/>
          <p:nvPr/>
        </p:nvSpPr>
        <p:spPr>
          <a:xfrm>
            <a:off x="8839200" y="3022600"/>
            <a:ext cx="2349500" cy="461665"/>
          </a:xfrm>
          <a:prstGeom prst="rect">
            <a:avLst/>
          </a:prstGeom>
          <a:noFill/>
        </p:spPr>
        <p:txBody>
          <a:bodyPr vert="horz" wrap="square" lIns="0" tIns="0" rIns="0" bIns="0" rtlCol="0">
            <a:spAutoFit/>
          </a:bodyPr>
          <a:lstStyle/>
          <a:p>
            <a:r>
              <a:rPr lang="en-US" sz="1500">
                <a:solidFill>
                  <a:srgbClr val="141E30"/>
                </a:solidFill>
                <a:latin typeface="Arial" panose="020B0604020202020204" pitchFamily="34" charset="0"/>
              </a:rPr>
              <a:t>PIR: phát hiện chuyển động</a:t>
            </a:r>
          </a:p>
        </p:txBody>
      </p:sp>
      <p:sp>
        <p:nvSpPr>
          <p:cNvPr id="18" name="Hình Bầu dục 17">
            <a:extLst>
              <a:ext uri="{FF2B5EF4-FFF2-40B4-BE49-F238E27FC236}">
                <a16:creationId xmlns:a16="http://schemas.microsoft.com/office/drawing/2014/main" id="{B2FA6C40-1712-FB6C-E399-936F10CC41E5}"/>
              </a:ext>
            </a:extLst>
          </p:cNvPr>
          <p:cNvSpPr/>
          <p:nvPr/>
        </p:nvSpPr>
        <p:spPr>
          <a:xfrm>
            <a:off x="8585200" y="37211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Hộp Văn bản 18">
            <a:extLst>
              <a:ext uri="{FF2B5EF4-FFF2-40B4-BE49-F238E27FC236}">
                <a16:creationId xmlns:a16="http://schemas.microsoft.com/office/drawing/2014/main" id="{7F37E591-372B-76B0-85E5-61FBE0C27EA7}"/>
              </a:ext>
            </a:extLst>
          </p:cNvPr>
          <p:cNvSpPr txBox="1"/>
          <p:nvPr/>
        </p:nvSpPr>
        <p:spPr>
          <a:xfrm>
            <a:off x="8839200" y="3632200"/>
            <a:ext cx="2349500" cy="230832"/>
          </a:xfrm>
          <a:prstGeom prst="rect">
            <a:avLst/>
          </a:prstGeom>
          <a:noFill/>
        </p:spPr>
        <p:txBody>
          <a:bodyPr vert="horz" wrap="square" lIns="0" tIns="0" rIns="0" bIns="0" rtlCol="0">
            <a:spAutoFit/>
          </a:bodyPr>
          <a:lstStyle/>
          <a:p>
            <a:r>
              <a:rPr lang="en-US" sz="1500">
                <a:solidFill>
                  <a:srgbClr val="141E30"/>
                </a:solidFill>
                <a:latin typeface="Arial" panose="020B0604020202020204" pitchFamily="34" charset="0"/>
              </a:rPr>
              <a:t>LED GPIO2: actuator</a:t>
            </a:r>
          </a:p>
        </p:txBody>
      </p:sp>
      <p:sp>
        <p:nvSpPr>
          <p:cNvPr id="20" name="Hình Bầu dục 19">
            <a:extLst>
              <a:ext uri="{FF2B5EF4-FFF2-40B4-BE49-F238E27FC236}">
                <a16:creationId xmlns:a16="http://schemas.microsoft.com/office/drawing/2014/main" id="{32691E00-7516-BAED-24E8-33350CA15FA3}"/>
              </a:ext>
            </a:extLst>
          </p:cNvPr>
          <p:cNvSpPr/>
          <p:nvPr/>
        </p:nvSpPr>
        <p:spPr>
          <a:xfrm>
            <a:off x="8585200" y="43307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Hộp Văn bản 20">
            <a:extLst>
              <a:ext uri="{FF2B5EF4-FFF2-40B4-BE49-F238E27FC236}">
                <a16:creationId xmlns:a16="http://schemas.microsoft.com/office/drawing/2014/main" id="{0F3C1D36-CBBC-DBEF-496D-3F56E55CC4CC}"/>
              </a:ext>
            </a:extLst>
          </p:cNvPr>
          <p:cNvSpPr txBox="1"/>
          <p:nvPr/>
        </p:nvSpPr>
        <p:spPr>
          <a:xfrm>
            <a:off x="8839200" y="4241800"/>
            <a:ext cx="2349500" cy="230832"/>
          </a:xfrm>
          <a:prstGeom prst="rect">
            <a:avLst/>
          </a:prstGeom>
          <a:noFill/>
        </p:spPr>
        <p:txBody>
          <a:bodyPr vert="horz" wrap="square" lIns="0" tIns="0" rIns="0" bIns="0" rtlCol="0">
            <a:spAutoFit/>
          </a:bodyPr>
          <a:lstStyle/>
          <a:p>
            <a:r>
              <a:rPr lang="en-US" sz="1500">
                <a:solidFill>
                  <a:srgbClr val="141E30"/>
                </a:solidFill>
                <a:latin typeface="Arial" panose="020B0604020202020204" pitchFamily="34" charset="0"/>
              </a:rPr>
              <a:t>Wi-Fi + MQTT Device API</a:t>
            </a:r>
          </a:p>
        </p:txBody>
      </p:sp>
      <p:sp>
        <p:nvSpPr>
          <p:cNvPr id="22" name="Hình Bầu dục 21">
            <a:extLst>
              <a:ext uri="{FF2B5EF4-FFF2-40B4-BE49-F238E27FC236}">
                <a16:creationId xmlns:a16="http://schemas.microsoft.com/office/drawing/2014/main" id="{172B2A3D-7748-59C1-7182-4D01572CBA0B}"/>
              </a:ext>
            </a:extLst>
          </p:cNvPr>
          <p:cNvSpPr/>
          <p:nvPr/>
        </p:nvSpPr>
        <p:spPr>
          <a:xfrm>
            <a:off x="8585200" y="49403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Hộp Văn bản 22">
            <a:extLst>
              <a:ext uri="{FF2B5EF4-FFF2-40B4-BE49-F238E27FC236}">
                <a16:creationId xmlns:a16="http://schemas.microsoft.com/office/drawing/2014/main" id="{AEA9261E-B8BC-5822-DC76-00541DF82AF8}"/>
              </a:ext>
            </a:extLst>
          </p:cNvPr>
          <p:cNvSpPr txBox="1"/>
          <p:nvPr/>
        </p:nvSpPr>
        <p:spPr>
          <a:xfrm>
            <a:off x="8839200" y="4851400"/>
            <a:ext cx="2349500" cy="230832"/>
          </a:xfrm>
          <a:prstGeom prst="rect">
            <a:avLst/>
          </a:prstGeom>
          <a:noFill/>
        </p:spPr>
        <p:txBody>
          <a:bodyPr vert="horz" wrap="square" lIns="0" tIns="0" rIns="0" bIns="0" rtlCol="0">
            <a:spAutoFit/>
          </a:bodyPr>
          <a:lstStyle/>
          <a:p>
            <a:r>
              <a:rPr lang="en-US" sz="1500">
                <a:solidFill>
                  <a:srgbClr val="141E30"/>
                </a:solidFill>
                <a:latin typeface="Arial" panose="020B0604020202020204" pitchFamily="34" charset="0"/>
              </a:rPr>
              <a:t>Wokwi for VS Code</a:t>
            </a:r>
          </a:p>
        </p:txBody>
      </p:sp>
      <p:sp>
        <p:nvSpPr>
          <p:cNvPr id="24" name="Hộp Văn bản 23">
            <a:extLst>
              <a:ext uri="{FF2B5EF4-FFF2-40B4-BE49-F238E27FC236}">
                <a16:creationId xmlns:a16="http://schemas.microsoft.com/office/drawing/2014/main" id="{6B748B8B-8975-42AE-4C44-5D4584F59F00}"/>
              </a:ext>
            </a:extLst>
          </p:cNvPr>
          <p:cNvSpPr txBox="1"/>
          <p:nvPr/>
        </p:nvSpPr>
        <p:spPr>
          <a:xfrm>
            <a:off x="8585200" y="5270500"/>
            <a:ext cx="2603500" cy="369332"/>
          </a:xfrm>
          <a:prstGeom prst="rect">
            <a:avLst/>
          </a:prstGeom>
          <a:noFill/>
        </p:spPr>
        <p:txBody>
          <a:bodyPr vert="horz" wrap="square" lIns="0" tIns="0" rIns="0" bIns="0" rtlCol="0">
            <a:spAutoFit/>
          </a:bodyPr>
          <a:lstStyle/>
          <a:p>
            <a:r>
              <a:rPr lang="vi-VN" sz="1200" b="1">
                <a:solidFill>
                  <a:srgbClr val="DC3545"/>
                </a:solidFill>
                <a:latin typeface="Arial" panose="020B0604020202020204" pitchFamily="34" charset="0"/>
              </a:rPr>
              <a:t>Không tạo dữ liệu “mực nước” hay cảm biến ngoài mạch.</a:t>
            </a:r>
            <a:endParaRPr lang="en-US" sz="1200" b="1">
              <a:solidFill>
                <a:srgbClr val="DC3545"/>
              </a:solidFill>
              <a:latin typeface="Arial" panose="020B0604020202020204" pitchFamily="34" charset="0"/>
            </a:endParaRPr>
          </a:p>
        </p:txBody>
      </p:sp>
    </p:spTree>
    <p:extLst>
      <p:ext uri="{BB962C8B-B14F-4D97-AF65-F5344CB8AC3E}">
        <p14:creationId xmlns:p14="http://schemas.microsoft.com/office/powerpoint/2010/main" val="1504294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FC73C59A-5BD8-3BF8-2CD8-B9D3431A4F86}"/>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D9FDC23A-9C59-F565-8F94-2496EE57B8E3}"/>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C9C142CD-D009-5BDB-00C1-F2D7F81A9804}"/>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05 · TELEMETRY</a:t>
            </a:r>
          </a:p>
        </p:txBody>
      </p:sp>
      <p:sp>
        <p:nvSpPr>
          <p:cNvPr id="5" name="Hộp Văn bản 4">
            <a:extLst>
              <a:ext uri="{FF2B5EF4-FFF2-40B4-BE49-F238E27FC236}">
                <a16:creationId xmlns:a16="http://schemas.microsoft.com/office/drawing/2014/main" id="{22DE3641-EE8D-3FCD-C093-BE5FC4A3644E}"/>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Dữ liệu và giao tiếp MQTT</a:t>
            </a:r>
          </a:p>
        </p:txBody>
      </p:sp>
      <p:sp>
        <p:nvSpPr>
          <p:cNvPr id="6" name="Hình chữ nhật 5">
            <a:extLst>
              <a:ext uri="{FF2B5EF4-FFF2-40B4-BE49-F238E27FC236}">
                <a16:creationId xmlns:a16="http://schemas.microsoft.com/office/drawing/2014/main" id="{BC3998E0-F528-20D8-AD4E-A0524BE9BEAD}"/>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8FB3D433-EB95-7A21-A939-C3D50A81FF56}"/>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FFBC959B-3B5D-3B2C-E367-E8CBB9EEB2B9}"/>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06</a:t>
            </a:r>
          </a:p>
        </p:txBody>
      </p:sp>
      <p:sp>
        <p:nvSpPr>
          <p:cNvPr id="9" name="Hình chữ nhật: Góc Tròn 8">
            <a:extLst>
              <a:ext uri="{FF2B5EF4-FFF2-40B4-BE49-F238E27FC236}">
                <a16:creationId xmlns:a16="http://schemas.microsoft.com/office/drawing/2014/main" id="{64B6618B-B5A2-D46B-5662-C2892C0777E1}"/>
              </a:ext>
            </a:extLst>
          </p:cNvPr>
          <p:cNvSpPr/>
          <p:nvPr/>
        </p:nvSpPr>
        <p:spPr>
          <a:xfrm>
            <a:off x="609600" y="1536700"/>
            <a:ext cx="5207000" cy="4241800"/>
          </a:xfrm>
          <a:prstGeom prst="roundRect">
            <a:avLst/>
          </a:prstGeom>
          <a:solidFill>
            <a:srgbClr val="141E3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ộp Văn bản 9">
            <a:extLst>
              <a:ext uri="{FF2B5EF4-FFF2-40B4-BE49-F238E27FC236}">
                <a16:creationId xmlns:a16="http://schemas.microsoft.com/office/drawing/2014/main" id="{57946573-EF6B-EE51-A98E-4AE8EB6E095D}"/>
              </a:ext>
            </a:extLst>
          </p:cNvPr>
          <p:cNvSpPr txBox="1"/>
          <p:nvPr/>
        </p:nvSpPr>
        <p:spPr>
          <a:xfrm>
            <a:off x="927100" y="1841500"/>
            <a:ext cx="4318000" cy="261610"/>
          </a:xfrm>
          <a:prstGeom prst="rect">
            <a:avLst/>
          </a:prstGeom>
          <a:noFill/>
        </p:spPr>
        <p:txBody>
          <a:bodyPr vert="horz" wrap="square" lIns="0" tIns="0" rIns="0" bIns="0" rtlCol="0">
            <a:spAutoFit/>
          </a:bodyPr>
          <a:lstStyle/>
          <a:p>
            <a:r>
              <a:rPr lang="en-US" sz="1700" b="1">
                <a:solidFill>
                  <a:srgbClr val="E3F2F0"/>
                </a:solidFill>
                <a:latin typeface="Consolas" panose="020B0609020204030204" pitchFamily="49" charset="0"/>
              </a:rPr>
              <a:t>v1/devices/me/telemetry</a:t>
            </a:r>
          </a:p>
        </p:txBody>
      </p:sp>
      <p:sp>
        <p:nvSpPr>
          <p:cNvPr id="11" name="Hộp Văn bản 10">
            <a:extLst>
              <a:ext uri="{FF2B5EF4-FFF2-40B4-BE49-F238E27FC236}">
                <a16:creationId xmlns:a16="http://schemas.microsoft.com/office/drawing/2014/main" id="{19B0FF48-D7DE-39C1-339F-A8B9A842F4B9}"/>
              </a:ext>
            </a:extLst>
          </p:cNvPr>
          <p:cNvSpPr txBox="1"/>
          <p:nvPr/>
        </p:nvSpPr>
        <p:spPr>
          <a:xfrm>
            <a:off x="952500" y="2387600"/>
            <a:ext cx="4191000" cy="1969770"/>
          </a:xfrm>
          <a:prstGeom prst="rect">
            <a:avLst/>
          </a:prstGeom>
          <a:noFill/>
        </p:spPr>
        <p:txBody>
          <a:bodyPr vert="horz" wrap="square" lIns="0" tIns="0" rIns="0" bIns="0" rtlCol="0">
            <a:spAutoFit/>
          </a:bodyPr>
          <a:lstStyle/>
          <a:p>
            <a:r>
              <a:rPr lang="en-US" sz="1600">
                <a:solidFill>
                  <a:srgbClr val="FFFFFF"/>
                </a:solidFill>
                <a:latin typeface="Consolas" panose="020B0609020204030204" pitchFamily="49" charset="0"/>
              </a:rPr>
              <a:t>{
  "temperature": 22.4,
  "humidity": 65.2,
  "motion": false,
  "rssi": -57,
  "sequence": 1042,
  "led_state": true
}</a:t>
            </a:r>
          </a:p>
        </p:txBody>
      </p:sp>
      <p:sp>
        <p:nvSpPr>
          <p:cNvPr id="12" name="Hình chữ nhật: Góc Tròn 11">
            <a:extLst>
              <a:ext uri="{FF2B5EF4-FFF2-40B4-BE49-F238E27FC236}">
                <a16:creationId xmlns:a16="http://schemas.microsoft.com/office/drawing/2014/main" id="{44001A24-BB16-79AE-86B1-43E9CA5562FE}"/>
              </a:ext>
            </a:extLst>
          </p:cNvPr>
          <p:cNvSpPr/>
          <p:nvPr/>
        </p:nvSpPr>
        <p:spPr>
          <a:xfrm>
            <a:off x="6172200" y="1536700"/>
            <a:ext cx="5410200" cy="42418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Hộp Văn bản 12">
            <a:extLst>
              <a:ext uri="{FF2B5EF4-FFF2-40B4-BE49-F238E27FC236}">
                <a16:creationId xmlns:a16="http://schemas.microsoft.com/office/drawing/2014/main" id="{37748F29-AF50-5606-246E-976370F410C1}"/>
              </a:ext>
            </a:extLst>
          </p:cNvPr>
          <p:cNvSpPr txBox="1"/>
          <p:nvPr/>
        </p:nvSpPr>
        <p:spPr>
          <a:xfrm>
            <a:off x="6527800" y="1879600"/>
            <a:ext cx="3302000" cy="307777"/>
          </a:xfrm>
          <a:prstGeom prst="rect">
            <a:avLst/>
          </a:prstGeom>
          <a:noFill/>
        </p:spPr>
        <p:txBody>
          <a:bodyPr vert="horz" wrap="square" lIns="0" tIns="0" rIns="0" bIns="0" rtlCol="0">
            <a:spAutoFit/>
          </a:bodyPr>
          <a:lstStyle/>
          <a:p>
            <a:r>
              <a:rPr lang="en-US" sz="2000" b="1">
                <a:solidFill>
                  <a:srgbClr val="004D46"/>
                </a:solidFill>
                <a:latin typeface="Arial" panose="020B0604020202020204" pitchFamily="34" charset="0"/>
              </a:rPr>
              <a:t>Nguyên tắc dữ liệu</a:t>
            </a:r>
          </a:p>
        </p:txBody>
      </p:sp>
      <p:sp>
        <p:nvSpPr>
          <p:cNvPr id="14" name="Hình Bầu dục 13">
            <a:extLst>
              <a:ext uri="{FF2B5EF4-FFF2-40B4-BE49-F238E27FC236}">
                <a16:creationId xmlns:a16="http://schemas.microsoft.com/office/drawing/2014/main" id="{838681C4-0FF6-1758-9778-E9161D5DD7F3}"/>
              </a:ext>
            </a:extLst>
          </p:cNvPr>
          <p:cNvSpPr/>
          <p:nvPr/>
        </p:nvSpPr>
        <p:spPr>
          <a:xfrm>
            <a:off x="6527800" y="26035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ộp Văn bản 14">
            <a:extLst>
              <a:ext uri="{FF2B5EF4-FFF2-40B4-BE49-F238E27FC236}">
                <a16:creationId xmlns:a16="http://schemas.microsoft.com/office/drawing/2014/main" id="{EDCE26D4-4F15-EAA3-00E8-27E47F2070F5}"/>
              </a:ext>
            </a:extLst>
          </p:cNvPr>
          <p:cNvSpPr txBox="1"/>
          <p:nvPr/>
        </p:nvSpPr>
        <p:spPr>
          <a:xfrm>
            <a:off x="6781800" y="2514600"/>
            <a:ext cx="4318000" cy="246221"/>
          </a:xfrm>
          <a:prstGeom prst="rect">
            <a:avLst/>
          </a:prstGeom>
          <a:noFill/>
        </p:spPr>
        <p:txBody>
          <a:bodyPr vert="horz" wrap="square" lIns="0" tIns="0" rIns="0" bIns="0" rtlCol="0">
            <a:spAutoFit/>
          </a:bodyPr>
          <a:lstStyle/>
          <a:p>
            <a:r>
              <a:rPr lang="en-US" sz="1600">
                <a:solidFill>
                  <a:srgbClr val="141E30"/>
                </a:solidFill>
                <a:latin typeface="Arial" panose="020B0604020202020204" pitchFamily="34" charset="0"/>
              </a:rPr>
              <a:t>Giữ raw telemetry trên Device.</a:t>
            </a:r>
          </a:p>
        </p:txBody>
      </p:sp>
      <p:sp>
        <p:nvSpPr>
          <p:cNvPr id="16" name="Hình Bầu dục 15">
            <a:extLst>
              <a:ext uri="{FF2B5EF4-FFF2-40B4-BE49-F238E27FC236}">
                <a16:creationId xmlns:a16="http://schemas.microsoft.com/office/drawing/2014/main" id="{2D692A86-EAD4-96D6-376D-03E01D37A110}"/>
              </a:ext>
            </a:extLst>
          </p:cNvPr>
          <p:cNvSpPr/>
          <p:nvPr/>
        </p:nvSpPr>
        <p:spPr>
          <a:xfrm>
            <a:off x="6527800" y="33020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Hộp Văn bản 16">
            <a:extLst>
              <a:ext uri="{FF2B5EF4-FFF2-40B4-BE49-F238E27FC236}">
                <a16:creationId xmlns:a16="http://schemas.microsoft.com/office/drawing/2014/main" id="{35A63153-8D64-DCCA-A62B-8A4ED6982F9D}"/>
              </a:ext>
            </a:extLst>
          </p:cNvPr>
          <p:cNvSpPr txBox="1"/>
          <p:nvPr/>
        </p:nvSpPr>
        <p:spPr>
          <a:xfrm>
            <a:off x="6781800" y="3213100"/>
            <a:ext cx="4318000" cy="246221"/>
          </a:xfrm>
          <a:prstGeom prst="rect">
            <a:avLst/>
          </a:prstGeom>
          <a:noFill/>
        </p:spPr>
        <p:txBody>
          <a:bodyPr vert="horz" wrap="square" lIns="0" tIns="0" rIns="0" bIns="0" rtlCol="0">
            <a:spAutoFit/>
          </a:bodyPr>
          <a:lstStyle/>
          <a:p>
            <a:r>
              <a:rPr lang="en-US" sz="1600">
                <a:solidFill>
                  <a:srgbClr val="141E30"/>
                </a:solidFill>
                <a:latin typeface="Arial" panose="020B0604020202020204" pitchFamily="34" charset="0"/>
              </a:rPr>
              <a:t>Asset nhận state tổng hợp và anomaly context.</a:t>
            </a:r>
          </a:p>
        </p:txBody>
      </p:sp>
      <p:sp>
        <p:nvSpPr>
          <p:cNvPr id="18" name="Hình Bầu dục 17">
            <a:extLst>
              <a:ext uri="{FF2B5EF4-FFF2-40B4-BE49-F238E27FC236}">
                <a16:creationId xmlns:a16="http://schemas.microsoft.com/office/drawing/2014/main" id="{3C035512-AEEC-811A-016E-5C7163AA2F93}"/>
              </a:ext>
            </a:extLst>
          </p:cNvPr>
          <p:cNvSpPr/>
          <p:nvPr/>
        </p:nvSpPr>
        <p:spPr>
          <a:xfrm>
            <a:off x="6527800" y="40005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Hộp Văn bản 18">
            <a:extLst>
              <a:ext uri="{FF2B5EF4-FFF2-40B4-BE49-F238E27FC236}">
                <a16:creationId xmlns:a16="http://schemas.microsoft.com/office/drawing/2014/main" id="{FFCC8624-86FE-8318-F930-5C24B5E38E10}"/>
              </a:ext>
            </a:extLst>
          </p:cNvPr>
          <p:cNvSpPr txBox="1"/>
          <p:nvPr/>
        </p:nvSpPr>
        <p:spPr>
          <a:xfrm>
            <a:off x="6781800" y="3911600"/>
            <a:ext cx="4318000" cy="492443"/>
          </a:xfrm>
          <a:prstGeom prst="rect">
            <a:avLst/>
          </a:prstGeom>
          <a:noFill/>
        </p:spPr>
        <p:txBody>
          <a:bodyPr vert="horz" wrap="square" lIns="0" tIns="0" rIns="0" bIns="0" rtlCol="0">
            <a:spAutoFit/>
          </a:bodyPr>
          <a:lstStyle/>
          <a:p>
            <a:r>
              <a:rPr lang="en-US" sz="1600">
                <a:solidFill>
                  <a:srgbClr val="141E30"/>
                </a:solidFill>
                <a:latin typeface="Arial" panose="020B0604020202020204" pitchFamily="34" charset="0"/>
              </a:rPr>
              <a:t>sequence / uptime hỗ trợ phát hiện gap và restart.</a:t>
            </a:r>
          </a:p>
        </p:txBody>
      </p:sp>
      <p:sp>
        <p:nvSpPr>
          <p:cNvPr id="20" name="Hình Bầu dục 19">
            <a:extLst>
              <a:ext uri="{FF2B5EF4-FFF2-40B4-BE49-F238E27FC236}">
                <a16:creationId xmlns:a16="http://schemas.microsoft.com/office/drawing/2014/main" id="{663C918A-D4C4-69A7-99D0-DF450E11B57F}"/>
              </a:ext>
            </a:extLst>
          </p:cNvPr>
          <p:cNvSpPr/>
          <p:nvPr/>
        </p:nvSpPr>
        <p:spPr>
          <a:xfrm>
            <a:off x="6527800" y="46990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Hộp Văn bản 20">
            <a:extLst>
              <a:ext uri="{FF2B5EF4-FFF2-40B4-BE49-F238E27FC236}">
                <a16:creationId xmlns:a16="http://schemas.microsoft.com/office/drawing/2014/main" id="{CBCF1313-9313-E2D3-A013-A27725663C67}"/>
              </a:ext>
            </a:extLst>
          </p:cNvPr>
          <p:cNvSpPr txBox="1"/>
          <p:nvPr/>
        </p:nvSpPr>
        <p:spPr>
          <a:xfrm>
            <a:off x="6781800" y="4610100"/>
            <a:ext cx="4318000" cy="246221"/>
          </a:xfrm>
          <a:prstGeom prst="rect">
            <a:avLst/>
          </a:prstGeom>
          <a:noFill/>
        </p:spPr>
        <p:txBody>
          <a:bodyPr vert="horz" wrap="square" lIns="0" tIns="0" rIns="0" bIns="0" rtlCol="0">
            <a:spAutoFit/>
          </a:bodyPr>
          <a:lstStyle/>
          <a:p>
            <a:r>
              <a:rPr lang="en-US" sz="1600">
                <a:solidFill>
                  <a:srgbClr val="141E30"/>
                </a:solidFill>
                <a:latin typeface="Arial" panose="020B0604020202020204" pitchFamily="34" charset="0"/>
              </a:rPr>
              <a:t>last_seen + activity tạo ONLINE / OFFLINE.</a:t>
            </a:r>
          </a:p>
        </p:txBody>
      </p:sp>
    </p:spTree>
    <p:extLst>
      <p:ext uri="{BB962C8B-B14F-4D97-AF65-F5344CB8AC3E}">
        <p14:creationId xmlns:p14="http://schemas.microsoft.com/office/powerpoint/2010/main" val="3609780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16EC52B0-F7A3-8532-1B3E-E2489C9896EA}"/>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0C66BE75-9F61-D661-6F86-FDA24F54B3D0}"/>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C3B90E99-9E99-94CE-B087-BAB6C1268E30}"/>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06 · DIGITAL TWIN MODEL</a:t>
            </a:r>
          </a:p>
        </p:txBody>
      </p:sp>
      <p:sp>
        <p:nvSpPr>
          <p:cNvPr id="5" name="Hộp Văn bản 4">
            <a:extLst>
              <a:ext uri="{FF2B5EF4-FFF2-40B4-BE49-F238E27FC236}">
                <a16:creationId xmlns:a16="http://schemas.microsoft.com/office/drawing/2014/main" id="{71CE40B5-E4EB-C716-0DA3-682C7E04F854}"/>
              </a:ext>
            </a:extLst>
          </p:cNvPr>
          <p:cNvSpPr txBox="1"/>
          <p:nvPr/>
        </p:nvSpPr>
        <p:spPr>
          <a:xfrm>
            <a:off x="609600" y="622300"/>
            <a:ext cx="10795000" cy="430887"/>
          </a:xfrm>
          <a:prstGeom prst="rect">
            <a:avLst/>
          </a:prstGeom>
          <a:noFill/>
        </p:spPr>
        <p:txBody>
          <a:bodyPr vert="horz" wrap="square" lIns="0" tIns="0" rIns="0" bIns="0" rtlCol="0">
            <a:spAutoFit/>
          </a:bodyPr>
          <a:lstStyle/>
          <a:p>
            <a:r>
              <a:rPr lang="fr-FR" sz="2800" b="1">
                <a:solidFill>
                  <a:srgbClr val="141E30"/>
                </a:solidFill>
                <a:latin typeface="Arial" panose="020B0604020202020204" pitchFamily="34" charset="0"/>
              </a:rPr>
              <a:t>Mô hình Entity và Relation</a:t>
            </a:r>
            <a:endParaRPr lang="en-US" sz="2800" b="1">
              <a:solidFill>
                <a:srgbClr val="141E30"/>
              </a:solidFill>
              <a:latin typeface="Arial" panose="020B0604020202020204" pitchFamily="34" charset="0"/>
            </a:endParaRPr>
          </a:p>
        </p:txBody>
      </p:sp>
      <p:sp>
        <p:nvSpPr>
          <p:cNvPr id="6" name="Hình chữ nhật 5">
            <a:extLst>
              <a:ext uri="{FF2B5EF4-FFF2-40B4-BE49-F238E27FC236}">
                <a16:creationId xmlns:a16="http://schemas.microsoft.com/office/drawing/2014/main" id="{B098983F-557B-A9F9-641A-87F3512ABCB5}"/>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D1280CAD-56AA-A605-E320-2B9F0AAF5322}"/>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1637D6BC-BE43-DDB2-87F9-91FF8BED2288}"/>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07</a:t>
            </a:r>
          </a:p>
        </p:txBody>
      </p:sp>
      <p:sp>
        <p:nvSpPr>
          <p:cNvPr id="9" name="Hình chữ nhật: Góc Tròn 8">
            <a:extLst>
              <a:ext uri="{FF2B5EF4-FFF2-40B4-BE49-F238E27FC236}">
                <a16:creationId xmlns:a16="http://schemas.microsoft.com/office/drawing/2014/main" id="{CF5B55E2-C44E-6D41-C906-EC87206FFABF}"/>
              </a:ext>
            </a:extLst>
          </p:cNvPr>
          <p:cNvSpPr/>
          <p:nvPr/>
        </p:nvSpPr>
        <p:spPr>
          <a:xfrm>
            <a:off x="609600" y="1511300"/>
            <a:ext cx="10972800" cy="36449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Hình ảnh 10">
            <a:extLst>
              <a:ext uri="{FF2B5EF4-FFF2-40B4-BE49-F238E27FC236}">
                <a16:creationId xmlns:a16="http://schemas.microsoft.com/office/drawing/2014/main" id="{6579BB62-0262-6D40-0791-51DDD1FDBCB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16033" y="1739900"/>
            <a:ext cx="6959934" cy="3111500"/>
          </a:xfrm>
          <a:prstGeom prst="rect">
            <a:avLst/>
          </a:prstGeom>
        </p:spPr>
      </p:pic>
      <p:sp>
        <p:nvSpPr>
          <p:cNvPr id="12" name="Hình chữ nhật: Góc Tròn 11">
            <a:extLst>
              <a:ext uri="{FF2B5EF4-FFF2-40B4-BE49-F238E27FC236}">
                <a16:creationId xmlns:a16="http://schemas.microsoft.com/office/drawing/2014/main" id="{926C80D7-66D9-216D-5D2C-9F4BC650EC9B}"/>
              </a:ext>
            </a:extLst>
          </p:cNvPr>
          <p:cNvSpPr/>
          <p:nvPr/>
        </p:nvSpPr>
        <p:spPr>
          <a:xfrm>
            <a:off x="609600" y="5257800"/>
            <a:ext cx="3365500" cy="11684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Hình chữ nhật: Góc Tròn 12">
            <a:extLst>
              <a:ext uri="{FF2B5EF4-FFF2-40B4-BE49-F238E27FC236}">
                <a16:creationId xmlns:a16="http://schemas.microsoft.com/office/drawing/2014/main" id="{71C38C23-DF40-E3B9-CB21-E274658A5C34}"/>
              </a:ext>
            </a:extLst>
          </p:cNvPr>
          <p:cNvSpPr/>
          <p:nvPr/>
        </p:nvSpPr>
        <p:spPr>
          <a:xfrm>
            <a:off x="609600" y="5257800"/>
            <a:ext cx="88900" cy="1168400"/>
          </a:xfrm>
          <a:prstGeom prst="round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ộp Văn bản 13">
            <a:extLst>
              <a:ext uri="{FF2B5EF4-FFF2-40B4-BE49-F238E27FC236}">
                <a16:creationId xmlns:a16="http://schemas.microsoft.com/office/drawing/2014/main" id="{96E583EF-03F9-BF2C-6E40-A60EC6DD0F36}"/>
              </a:ext>
            </a:extLst>
          </p:cNvPr>
          <p:cNvSpPr txBox="1"/>
          <p:nvPr/>
        </p:nvSpPr>
        <p:spPr>
          <a:xfrm>
            <a:off x="850900" y="5422900"/>
            <a:ext cx="2984500" cy="415498"/>
          </a:xfrm>
          <a:prstGeom prst="rect">
            <a:avLst/>
          </a:prstGeom>
          <a:noFill/>
        </p:spPr>
        <p:txBody>
          <a:bodyPr vert="horz" wrap="square" lIns="0" tIns="0" rIns="0" bIns="0" rtlCol="0">
            <a:spAutoFit/>
          </a:bodyPr>
          <a:lstStyle/>
          <a:p>
            <a:r>
              <a:rPr lang="en-US" sz="2700" b="1">
                <a:solidFill>
                  <a:srgbClr val="00796B"/>
                </a:solidFill>
                <a:latin typeface="Arial" panose="020B0604020202020204" pitchFamily="34" charset="0"/>
              </a:rPr>
              <a:t>WAREHOUSE</a:t>
            </a:r>
          </a:p>
        </p:txBody>
      </p:sp>
      <p:sp>
        <p:nvSpPr>
          <p:cNvPr id="15" name="Hộp Văn bản 14">
            <a:extLst>
              <a:ext uri="{FF2B5EF4-FFF2-40B4-BE49-F238E27FC236}">
                <a16:creationId xmlns:a16="http://schemas.microsoft.com/office/drawing/2014/main" id="{2A8C1186-7062-E0B2-AEB2-12E6D63CE4B4}"/>
              </a:ext>
            </a:extLst>
          </p:cNvPr>
          <p:cNvSpPr txBox="1"/>
          <p:nvPr/>
        </p:nvSpPr>
        <p:spPr>
          <a:xfrm>
            <a:off x="850900" y="5969000"/>
            <a:ext cx="2984500" cy="169277"/>
          </a:xfrm>
          <a:prstGeom prst="rect">
            <a:avLst/>
          </a:prstGeom>
          <a:noFill/>
        </p:spPr>
        <p:txBody>
          <a:bodyPr vert="horz" wrap="square" lIns="0" tIns="0" rIns="0" bIns="0" rtlCol="0">
            <a:spAutoFit/>
          </a:bodyPr>
          <a:lstStyle/>
          <a:p>
            <a:r>
              <a:rPr lang="en-US" sz="1100">
                <a:solidFill>
                  <a:srgbClr val="495869"/>
                </a:solidFill>
                <a:latin typeface="Arial" panose="020B0604020202020204" pitchFamily="34" charset="0"/>
              </a:rPr>
              <a:t>Asset · Produce_Warehouse_01 · state</a:t>
            </a:r>
          </a:p>
        </p:txBody>
      </p:sp>
      <p:sp>
        <p:nvSpPr>
          <p:cNvPr id="16" name="Hình chữ nhật: Góc Tròn 15">
            <a:extLst>
              <a:ext uri="{FF2B5EF4-FFF2-40B4-BE49-F238E27FC236}">
                <a16:creationId xmlns:a16="http://schemas.microsoft.com/office/drawing/2014/main" id="{8F1A1EF2-6208-1FD7-C0B2-087F8D5C37CA}"/>
              </a:ext>
            </a:extLst>
          </p:cNvPr>
          <p:cNvSpPr/>
          <p:nvPr/>
        </p:nvSpPr>
        <p:spPr>
          <a:xfrm>
            <a:off x="4292600" y="5257800"/>
            <a:ext cx="3606800" cy="11684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Hình chữ nhật: Góc Tròn 16">
            <a:extLst>
              <a:ext uri="{FF2B5EF4-FFF2-40B4-BE49-F238E27FC236}">
                <a16:creationId xmlns:a16="http://schemas.microsoft.com/office/drawing/2014/main" id="{EF3CC049-5F16-391E-42C2-12379B4497E9}"/>
              </a:ext>
            </a:extLst>
          </p:cNvPr>
          <p:cNvSpPr/>
          <p:nvPr/>
        </p:nvSpPr>
        <p:spPr>
          <a:xfrm>
            <a:off x="4292600" y="5257800"/>
            <a:ext cx="88900" cy="1168400"/>
          </a:xfrm>
          <a:prstGeom prst="roundRect">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ộp Văn bản 17">
            <a:extLst>
              <a:ext uri="{FF2B5EF4-FFF2-40B4-BE49-F238E27FC236}">
                <a16:creationId xmlns:a16="http://schemas.microsoft.com/office/drawing/2014/main" id="{2DC4732B-1BCD-0008-F649-F360E9C57C3E}"/>
              </a:ext>
            </a:extLst>
          </p:cNvPr>
          <p:cNvSpPr txBox="1"/>
          <p:nvPr/>
        </p:nvSpPr>
        <p:spPr>
          <a:xfrm>
            <a:off x="4533900" y="5422900"/>
            <a:ext cx="3225800" cy="415498"/>
          </a:xfrm>
          <a:prstGeom prst="rect">
            <a:avLst/>
          </a:prstGeom>
          <a:noFill/>
        </p:spPr>
        <p:txBody>
          <a:bodyPr vert="horz" wrap="square" lIns="0" tIns="0" rIns="0" bIns="0" rtlCol="0">
            <a:spAutoFit/>
          </a:bodyPr>
          <a:lstStyle/>
          <a:p>
            <a:r>
              <a:rPr lang="en-US" sz="2700" b="1">
                <a:solidFill>
                  <a:srgbClr val="2F6BFF"/>
                </a:solidFill>
                <a:latin typeface="Arial" panose="020B0604020202020204" pitchFamily="34" charset="0"/>
              </a:rPr>
              <a:t>CONTAINS</a:t>
            </a:r>
          </a:p>
        </p:txBody>
      </p:sp>
      <p:sp>
        <p:nvSpPr>
          <p:cNvPr id="19" name="Hộp Văn bản 18">
            <a:extLst>
              <a:ext uri="{FF2B5EF4-FFF2-40B4-BE49-F238E27FC236}">
                <a16:creationId xmlns:a16="http://schemas.microsoft.com/office/drawing/2014/main" id="{AD2F91F2-F6C8-9DF8-56BC-1B74778AD561}"/>
              </a:ext>
            </a:extLst>
          </p:cNvPr>
          <p:cNvSpPr txBox="1"/>
          <p:nvPr/>
        </p:nvSpPr>
        <p:spPr>
          <a:xfrm>
            <a:off x="4533900" y="5969000"/>
            <a:ext cx="3225800" cy="169277"/>
          </a:xfrm>
          <a:prstGeom prst="rect">
            <a:avLst/>
          </a:prstGeom>
          <a:noFill/>
        </p:spPr>
        <p:txBody>
          <a:bodyPr vert="horz" wrap="square" lIns="0" tIns="0" rIns="0" bIns="0" rtlCol="0">
            <a:spAutoFit/>
          </a:bodyPr>
          <a:lstStyle/>
          <a:p>
            <a:r>
              <a:rPr lang="en-US" sz="1100">
                <a:solidFill>
                  <a:srgbClr val="495869"/>
                </a:solidFill>
                <a:latin typeface="Arial" panose="020B0604020202020204" pitchFamily="34" charset="0"/>
              </a:rPr>
              <a:t>Relation · cấu trúc và ngữ cảnh</a:t>
            </a:r>
          </a:p>
        </p:txBody>
      </p:sp>
      <p:sp>
        <p:nvSpPr>
          <p:cNvPr id="20" name="Hình chữ nhật: Góc Tròn 19">
            <a:extLst>
              <a:ext uri="{FF2B5EF4-FFF2-40B4-BE49-F238E27FC236}">
                <a16:creationId xmlns:a16="http://schemas.microsoft.com/office/drawing/2014/main" id="{A4715716-A4E0-0BE1-E7FE-7B548DA7FE65}"/>
              </a:ext>
            </a:extLst>
          </p:cNvPr>
          <p:cNvSpPr/>
          <p:nvPr/>
        </p:nvSpPr>
        <p:spPr>
          <a:xfrm>
            <a:off x="8216900" y="5257800"/>
            <a:ext cx="3365500" cy="11684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Hình chữ nhật: Góc Tròn 20">
            <a:extLst>
              <a:ext uri="{FF2B5EF4-FFF2-40B4-BE49-F238E27FC236}">
                <a16:creationId xmlns:a16="http://schemas.microsoft.com/office/drawing/2014/main" id="{005CAD30-99D8-3492-81B8-0D644170E871}"/>
              </a:ext>
            </a:extLst>
          </p:cNvPr>
          <p:cNvSpPr/>
          <p:nvPr/>
        </p:nvSpPr>
        <p:spPr>
          <a:xfrm>
            <a:off x="8216900" y="5257800"/>
            <a:ext cx="88900" cy="1168400"/>
          </a:xfrm>
          <a:prstGeom prst="roundRect">
            <a:avLst/>
          </a:prstGeom>
          <a:solidFill>
            <a:srgbClr val="14915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Hộp Văn bản 21">
            <a:extLst>
              <a:ext uri="{FF2B5EF4-FFF2-40B4-BE49-F238E27FC236}">
                <a16:creationId xmlns:a16="http://schemas.microsoft.com/office/drawing/2014/main" id="{CD02E3C2-7D45-9C8E-9708-01DB47A2090E}"/>
              </a:ext>
            </a:extLst>
          </p:cNvPr>
          <p:cNvSpPr txBox="1"/>
          <p:nvPr/>
        </p:nvSpPr>
        <p:spPr>
          <a:xfrm>
            <a:off x="8458200" y="5422900"/>
            <a:ext cx="2984500" cy="415498"/>
          </a:xfrm>
          <a:prstGeom prst="rect">
            <a:avLst/>
          </a:prstGeom>
          <a:noFill/>
        </p:spPr>
        <p:txBody>
          <a:bodyPr vert="horz" wrap="square" lIns="0" tIns="0" rIns="0" bIns="0" rtlCol="0">
            <a:spAutoFit/>
          </a:bodyPr>
          <a:lstStyle/>
          <a:p>
            <a:r>
              <a:rPr lang="en-US" sz="2700" b="1">
                <a:solidFill>
                  <a:srgbClr val="149153"/>
                </a:solidFill>
                <a:latin typeface="Arial" panose="020B0604020202020204" pitchFamily="34" charset="0"/>
              </a:rPr>
              <a:t>DEVICE: ESP32</a:t>
            </a:r>
          </a:p>
        </p:txBody>
      </p:sp>
      <p:sp>
        <p:nvSpPr>
          <p:cNvPr id="23" name="Hộp Văn bản 22">
            <a:extLst>
              <a:ext uri="{FF2B5EF4-FFF2-40B4-BE49-F238E27FC236}">
                <a16:creationId xmlns:a16="http://schemas.microsoft.com/office/drawing/2014/main" id="{F3C0BEFC-7331-7623-0331-C7E5DF8837E6}"/>
              </a:ext>
            </a:extLst>
          </p:cNvPr>
          <p:cNvSpPr txBox="1"/>
          <p:nvPr/>
        </p:nvSpPr>
        <p:spPr>
          <a:xfrm>
            <a:off x="8458200" y="5969000"/>
            <a:ext cx="2984500" cy="169277"/>
          </a:xfrm>
          <a:prstGeom prst="rect">
            <a:avLst/>
          </a:prstGeom>
          <a:noFill/>
        </p:spPr>
        <p:txBody>
          <a:bodyPr vert="horz" wrap="square" lIns="0" tIns="0" rIns="0" bIns="0" rtlCol="0">
            <a:spAutoFit/>
          </a:bodyPr>
          <a:lstStyle/>
          <a:p>
            <a:r>
              <a:rPr lang="pt-BR" sz="1100">
                <a:solidFill>
                  <a:srgbClr val="495869"/>
                </a:solidFill>
                <a:latin typeface="Arial" panose="020B0604020202020204" pitchFamily="34" charset="0"/>
              </a:rPr>
              <a:t>ESP32_Env_Node_01 · raw data / RPC</a:t>
            </a:r>
            <a:endParaRPr lang="en-US" sz="1100">
              <a:solidFill>
                <a:srgbClr val="495869"/>
              </a:solidFill>
              <a:latin typeface="Arial" panose="020B0604020202020204" pitchFamily="34" charset="0"/>
            </a:endParaRPr>
          </a:p>
        </p:txBody>
      </p:sp>
    </p:spTree>
    <p:extLst>
      <p:ext uri="{BB962C8B-B14F-4D97-AF65-F5344CB8AC3E}">
        <p14:creationId xmlns:p14="http://schemas.microsoft.com/office/powerpoint/2010/main" val="3113948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79B41EC5-B855-D422-BB3A-EA0A2865CB85}"/>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124BF0F3-728D-78EE-FA59-930E05E4B4C3}"/>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E68F6D48-831F-5135-DBE9-DC3E9F4B63F9}"/>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07 · STATE MACHINE</a:t>
            </a:r>
          </a:p>
        </p:txBody>
      </p:sp>
      <p:sp>
        <p:nvSpPr>
          <p:cNvPr id="5" name="Hộp Văn bản 4">
            <a:extLst>
              <a:ext uri="{FF2B5EF4-FFF2-40B4-BE49-F238E27FC236}">
                <a16:creationId xmlns:a16="http://schemas.microsoft.com/office/drawing/2014/main" id="{AD8FCE0A-9912-400C-FA93-6F7CE78D91FE}"/>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Trạng thái tổng hợp của Twin</a:t>
            </a:r>
          </a:p>
        </p:txBody>
      </p:sp>
      <p:sp>
        <p:nvSpPr>
          <p:cNvPr id="6" name="Hình chữ nhật 5">
            <a:extLst>
              <a:ext uri="{FF2B5EF4-FFF2-40B4-BE49-F238E27FC236}">
                <a16:creationId xmlns:a16="http://schemas.microsoft.com/office/drawing/2014/main" id="{9D71015E-47C6-B29C-19A1-EF14B6B75AEF}"/>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A6300694-7EE5-99F3-05AE-70E6A6FC7C2F}"/>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C91A8722-9609-5C7A-5744-E4CE7EE73EA3}"/>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08</a:t>
            </a:r>
          </a:p>
        </p:txBody>
      </p:sp>
      <p:sp>
        <p:nvSpPr>
          <p:cNvPr id="9" name="Hình chữ nhật: Góc Tròn 8">
            <a:extLst>
              <a:ext uri="{FF2B5EF4-FFF2-40B4-BE49-F238E27FC236}">
                <a16:creationId xmlns:a16="http://schemas.microsoft.com/office/drawing/2014/main" id="{01A995BB-038D-C346-70AC-ACD0C3B17B71}"/>
              </a:ext>
            </a:extLst>
          </p:cNvPr>
          <p:cNvSpPr/>
          <p:nvPr/>
        </p:nvSpPr>
        <p:spPr>
          <a:xfrm>
            <a:off x="609600" y="1473200"/>
            <a:ext cx="7645400" cy="45974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Hình ảnh 10">
            <a:extLst>
              <a:ext uri="{FF2B5EF4-FFF2-40B4-BE49-F238E27FC236}">
                <a16:creationId xmlns:a16="http://schemas.microsoft.com/office/drawing/2014/main" id="{DA055C77-9DC2-CEA6-5A58-9D07ED8F12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38200" y="1796062"/>
            <a:ext cx="7188200" cy="3913575"/>
          </a:xfrm>
          <a:prstGeom prst="rect">
            <a:avLst/>
          </a:prstGeom>
        </p:spPr>
      </p:pic>
      <p:sp>
        <p:nvSpPr>
          <p:cNvPr id="12" name="Hình chữ nhật: Góc Tròn 11">
            <a:extLst>
              <a:ext uri="{FF2B5EF4-FFF2-40B4-BE49-F238E27FC236}">
                <a16:creationId xmlns:a16="http://schemas.microsoft.com/office/drawing/2014/main" id="{1ACD2775-68C4-B7B5-4E93-8A82403B3B7C}"/>
              </a:ext>
            </a:extLst>
          </p:cNvPr>
          <p:cNvSpPr/>
          <p:nvPr/>
        </p:nvSpPr>
        <p:spPr>
          <a:xfrm>
            <a:off x="8559800" y="1473200"/>
            <a:ext cx="3022600" cy="45974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Hộp Văn bản 12">
            <a:extLst>
              <a:ext uri="{FF2B5EF4-FFF2-40B4-BE49-F238E27FC236}">
                <a16:creationId xmlns:a16="http://schemas.microsoft.com/office/drawing/2014/main" id="{BAF2E0B3-CD3F-2DC5-3F1F-CE96E458D563}"/>
              </a:ext>
            </a:extLst>
          </p:cNvPr>
          <p:cNvSpPr txBox="1"/>
          <p:nvPr/>
        </p:nvSpPr>
        <p:spPr>
          <a:xfrm>
            <a:off x="8839200" y="1803400"/>
            <a:ext cx="2413000" cy="276999"/>
          </a:xfrm>
          <a:prstGeom prst="rect">
            <a:avLst/>
          </a:prstGeom>
          <a:noFill/>
        </p:spPr>
        <p:txBody>
          <a:bodyPr vert="horz" wrap="square" lIns="0" tIns="0" rIns="0" bIns="0" rtlCol="0">
            <a:spAutoFit/>
          </a:bodyPr>
          <a:lstStyle/>
          <a:p>
            <a:r>
              <a:rPr lang="vi-VN" b="1">
                <a:solidFill>
                  <a:srgbClr val="004D46"/>
                </a:solidFill>
                <a:latin typeface="Arial" panose="020B0604020202020204" pitchFamily="34" charset="0"/>
              </a:rPr>
              <a:t>Ưu tiên trạng thái</a:t>
            </a:r>
            <a:endParaRPr lang="en-US" b="1">
              <a:solidFill>
                <a:srgbClr val="004D46"/>
              </a:solidFill>
              <a:latin typeface="Arial" panose="020B0604020202020204" pitchFamily="34" charset="0"/>
            </a:endParaRPr>
          </a:p>
        </p:txBody>
      </p:sp>
      <p:sp>
        <p:nvSpPr>
          <p:cNvPr id="14" name="Hộp Văn bản 13">
            <a:extLst>
              <a:ext uri="{FF2B5EF4-FFF2-40B4-BE49-F238E27FC236}">
                <a16:creationId xmlns:a16="http://schemas.microsoft.com/office/drawing/2014/main" id="{3962508A-9209-2B9F-1C83-32A9AD3C19FA}"/>
              </a:ext>
            </a:extLst>
          </p:cNvPr>
          <p:cNvSpPr txBox="1"/>
          <p:nvPr/>
        </p:nvSpPr>
        <p:spPr>
          <a:xfrm>
            <a:off x="8839200" y="2463800"/>
            <a:ext cx="2159000" cy="307777"/>
          </a:xfrm>
          <a:prstGeom prst="rect">
            <a:avLst/>
          </a:prstGeom>
          <a:noFill/>
        </p:spPr>
        <p:txBody>
          <a:bodyPr vert="horz" wrap="square" lIns="0" tIns="0" rIns="0" bIns="0" rtlCol="0">
            <a:spAutoFit/>
          </a:bodyPr>
          <a:lstStyle/>
          <a:p>
            <a:r>
              <a:rPr lang="en-US" sz="2000" b="1">
                <a:solidFill>
                  <a:srgbClr val="DC3545"/>
                </a:solidFill>
                <a:latin typeface="Arial" panose="020B0604020202020204" pitchFamily="34" charset="0"/>
              </a:rPr>
              <a:t>OFFLINE</a:t>
            </a:r>
          </a:p>
        </p:txBody>
      </p:sp>
      <p:sp>
        <p:nvSpPr>
          <p:cNvPr id="15" name="Hộp Văn bản 14">
            <a:extLst>
              <a:ext uri="{FF2B5EF4-FFF2-40B4-BE49-F238E27FC236}">
                <a16:creationId xmlns:a16="http://schemas.microsoft.com/office/drawing/2014/main" id="{86632A98-FA6B-D060-D4FD-C37DA399E8AE}"/>
              </a:ext>
            </a:extLst>
          </p:cNvPr>
          <p:cNvSpPr txBox="1"/>
          <p:nvPr/>
        </p:nvSpPr>
        <p:spPr>
          <a:xfrm>
            <a:off x="8839200" y="3048000"/>
            <a:ext cx="2159000" cy="307777"/>
          </a:xfrm>
          <a:prstGeom prst="rect">
            <a:avLst/>
          </a:prstGeom>
          <a:noFill/>
        </p:spPr>
        <p:txBody>
          <a:bodyPr vert="horz" wrap="square" lIns="0" tIns="0" rIns="0" bIns="0" rtlCol="0">
            <a:spAutoFit/>
          </a:bodyPr>
          <a:lstStyle/>
          <a:p>
            <a:r>
              <a:rPr lang="en-US" sz="2000" b="1">
                <a:solidFill>
                  <a:srgbClr val="E6601E"/>
                </a:solidFill>
                <a:latin typeface="Arial" panose="020B0604020202020204" pitchFamily="34" charset="0"/>
              </a:rPr>
              <a:t>CRITICAL</a:t>
            </a:r>
          </a:p>
        </p:txBody>
      </p:sp>
      <p:sp>
        <p:nvSpPr>
          <p:cNvPr id="16" name="Hộp Văn bản 15">
            <a:extLst>
              <a:ext uri="{FF2B5EF4-FFF2-40B4-BE49-F238E27FC236}">
                <a16:creationId xmlns:a16="http://schemas.microsoft.com/office/drawing/2014/main" id="{E8A55335-F806-2AA1-2E2F-189F8C622547}"/>
              </a:ext>
            </a:extLst>
          </p:cNvPr>
          <p:cNvSpPr txBox="1"/>
          <p:nvPr/>
        </p:nvSpPr>
        <p:spPr>
          <a:xfrm>
            <a:off x="8839200" y="3632200"/>
            <a:ext cx="2159000" cy="307777"/>
          </a:xfrm>
          <a:prstGeom prst="rect">
            <a:avLst/>
          </a:prstGeom>
          <a:noFill/>
        </p:spPr>
        <p:txBody>
          <a:bodyPr vert="horz" wrap="square" lIns="0" tIns="0" rIns="0" bIns="0" rtlCol="0">
            <a:spAutoFit/>
          </a:bodyPr>
          <a:lstStyle/>
          <a:p>
            <a:r>
              <a:rPr lang="en-US" sz="2000" b="1">
                <a:solidFill>
                  <a:srgbClr val="F4A621"/>
                </a:solidFill>
                <a:latin typeface="Arial" panose="020B0604020202020204" pitchFamily="34" charset="0"/>
              </a:rPr>
              <a:t>WARNING</a:t>
            </a:r>
          </a:p>
        </p:txBody>
      </p:sp>
      <p:sp>
        <p:nvSpPr>
          <p:cNvPr id="17" name="Hộp Văn bản 16">
            <a:extLst>
              <a:ext uri="{FF2B5EF4-FFF2-40B4-BE49-F238E27FC236}">
                <a16:creationId xmlns:a16="http://schemas.microsoft.com/office/drawing/2014/main" id="{3334DB29-6354-5D55-AACF-E4733320D812}"/>
              </a:ext>
            </a:extLst>
          </p:cNvPr>
          <p:cNvSpPr txBox="1"/>
          <p:nvPr/>
        </p:nvSpPr>
        <p:spPr>
          <a:xfrm>
            <a:off x="8839200" y="4216400"/>
            <a:ext cx="2159000" cy="307777"/>
          </a:xfrm>
          <a:prstGeom prst="rect">
            <a:avLst/>
          </a:prstGeom>
          <a:noFill/>
        </p:spPr>
        <p:txBody>
          <a:bodyPr vert="horz" wrap="square" lIns="0" tIns="0" rIns="0" bIns="0" rtlCol="0">
            <a:spAutoFit/>
          </a:bodyPr>
          <a:lstStyle/>
          <a:p>
            <a:r>
              <a:rPr lang="en-US" sz="2000" b="1">
                <a:solidFill>
                  <a:srgbClr val="149153"/>
                </a:solidFill>
                <a:latin typeface="Arial" panose="020B0604020202020204" pitchFamily="34" charset="0"/>
              </a:rPr>
              <a:t>NORMAL</a:t>
            </a:r>
          </a:p>
        </p:txBody>
      </p:sp>
      <p:sp>
        <p:nvSpPr>
          <p:cNvPr id="18" name="Hộp Văn bản 17">
            <a:extLst>
              <a:ext uri="{FF2B5EF4-FFF2-40B4-BE49-F238E27FC236}">
                <a16:creationId xmlns:a16="http://schemas.microsoft.com/office/drawing/2014/main" id="{CC0E58DF-D6F3-DC53-F1A7-7C9790A197D0}"/>
              </a:ext>
            </a:extLst>
          </p:cNvPr>
          <p:cNvSpPr txBox="1"/>
          <p:nvPr/>
        </p:nvSpPr>
        <p:spPr>
          <a:xfrm>
            <a:off x="8839200" y="4914900"/>
            <a:ext cx="2286000" cy="400110"/>
          </a:xfrm>
          <a:prstGeom prst="rect">
            <a:avLst/>
          </a:prstGeom>
          <a:noFill/>
        </p:spPr>
        <p:txBody>
          <a:bodyPr vert="horz" wrap="square" lIns="0" tIns="0" rIns="0" bIns="0" rtlCol="0">
            <a:spAutoFit/>
          </a:bodyPr>
          <a:lstStyle/>
          <a:p>
            <a:r>
              <a:rPr lang="vi-VN" sz="1300">
                <a:solidFill>
                  <a:srgbClr val="495869"/>
                </a:solidFill>
                <a:latin typeface="Arial" panose="020B0604020202020204" pitchFamily="34" charset="0"/>
              </a:rPr>
              <a:t>Alarm và health score được suy ra từ cùng một ngữ cảnh.</a:t>
            </a:r>
            <a:endParaRPr lang="en-US" sz="1300">
              <a:solidFill>
                <a:srgbClr val="495869"/>
              </a:solidFill>
              <a:latin typeface="Arial" panose="020B0604020202020204" pitchFamily="34" charset="0"/>
            </a:endParaRPr>
          </a:p>
        </p:txBody>
      </p:sp>
    </p:spTree>
    <p:extLst>
      <p:ext uri="{BB962C8B-B14F-4D97-AF65-F5344CB8AC3E}">
        <p14:creationId xmlns:p14="http://schemas.microsoft.com/office/powerpoint/2010/main" val="834952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C310104D-E888-40DD-15BA-FADCE6E9390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9FE1964D-1B04-1E97-0DE7-0597CF53844F}"/>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33A82B1E-41CF-4E74-A700-3E502655C0C6}"/>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08 · ANOMALY DETECTION</a:t>
            </a:r>
          </a:p>
        </p:txBody>
      </p:sp>
      <p:sp>
        <p:nvSpPr>
          <p:cNvPr id="5" name="Hộp Văn bản 4">
            <a:extLst>
              <a:ext uri="{FF2B5EF4-FFF2-40B4-BE49-F238E27FC236}">
                <a16:creationId xmlns:a16="http://schemas.microsoft.com/office/drawing/2014/main" id="{0E306FBC-C745-37D4-D22C-78A2890921AF}"/>
              </a:ext>
            </a:extLst>
          </p:cNvPr>
          <p:cNvSpPr txBox="1"/>
          <p:nvPr/>
        </p:nvSpPr>
        <p:spPr>
          <a:xfrm>
            <a:off x="609600" y="622300"/>
            <a:ext cx="10795000" cy="430887"/>
          </a:xfrm>
          <a:prstGeom prst="rect">
            <a:avLst/>
          </a:prstGeom>
          <a:noFill/>
        </p:spPr>
        <p:txBody>
          <a:bodyPr vert="horz" wrap="square" lIns="0" tIns="0" rIns="0" bIns="0" rtlCol="0">
            <a:spAutoFit/>
          </a:bodyPr>
          <a:lstStyle/>
          <a:p>
            <a:r>
              <a:rPr lang="vi-VN" sz="2800" b="1">
                <a:solidFill>
                  <a:srgbClr val="141E30"/>
                </a:solidFill>
                <a:latin typeface="Arial" panose="020B0604020202020204" pitchFamily="34" charset="0"/>
              </a:rPr>
              <a:t>Phát hiện bất thường</a:t>
            </a:r>
            <a:endParaRPr lang="en-US" sz="2800" b="1">
              <a:solidFill>
                <a:srgbClr val="141E30"/>
              </a:solidFill>
              <a:latin typeface="Arial" panose="020B0604020202020204" pitchFamily="34" charset="0"/>
            </a:endParaRPr>
          </a:p>
        </p:txBody>
      </p:sp>
      <p:sp>
        <p:nvSpPr>
          <p:cNvPr id="6" name="Hình chữ nhật 5">
            <a:extLst>
              <a:ext uri="{FF2B5EF4-FFF2-40B4-BE49-F238E27FC236}">
                <a16:creationId xmlns:a16="http://schemas.microsoft.com/office/drawing/2014/main" id="{75FB2309-A342-6B2D-EE51-8C817472CF56}"/>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364B8AE6-6C9E-379E-4059-CFA956380F91}"/>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E0AA5979-1806-3EE9-EF9D-857EB68948D9}"/>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09</a:t>
            </a:r>
          </a:p>
        </p:txBody>
      </p:sp>
      <p:sp>
        <p:nvSpPr>
          <p:cNvPr id="9" name="Hình chữ nhật: Góc Tròn 8">
            <a:extLst>
              <a:ext uri="{FF2B5EF4-FFF2-40B4-BE49-F238E27FC236}">
                <a16:creationId xmlns:a16="http://schemas.microsoft.com/office/drawing/2014/main" id="{3AD14868-7D23-99BD-7BEA-8A00FD1B40B0}"/>
              </a:ext>
            </a:extLst>
          </p:cNvPr>
          <p:cNvSpPr/>
          <p:nvPr/>
        </p:nvSpPr>
        <p:spPr>
          <a:xfrm>
            <a:off x="609600" y="1600200"/>
            <a:ext cx="3352800" cy="40386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ình chữ nhật: Góc Tròn 9">
            <a:extLst>
              <a:ext uri="{FF2B5EF4-FFF2-40B4-BE49-F238E27FC236}">
                <a16:creationId xmlns:a16="http://schemas.microsoft.com/office/drawing/2014/main" id="{756E3390-D525-72CE-E7EC-D020CA1FC808}"/>
              </a:ext>
            </a:extLst>
          </p:cNvPr>
          <p:cNvSpPr/>
          <p:nvPr/>
        </p:nvSpPr>
        <p:spPr>
          <a:xfrm>
            <a:off x="609600" y="1600200"/>
            <a:ext cx="3352800" cy="609600"/>
          </a:xfrm>
          <a:prstGeom prst="round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ộp Văn bản 10">
            <a:extLst>
              <a:ext uri="{FF2B5EF4-FFF2-40B4-BE49-F238E27FC236}">
                <a16:creationId xmlns:a16="http://schemas.microsoft.com/office/drawing/2014/main" id="{970E9CC7-D4BF-DF09-74C8-658E9F229533}"/>
              </a:ext>
            </a:extLst>
          </p:cNvPr>
          <p:cNvSpPr txBox="1"/>
          <p:nvPr/>
        </p:nvSpPr>
        <p:spPr>
          <a:xfrm>
            <a:off x="838200" y="1803400"/>
            <a:ext cx="2895600" cy="200055"/>
          </a:xfrm>
          <a:prstGeom prst="rect">
            <a:avLst/>
          </a:prstGeom>
          <a:noFill/>
        </p:spPr>
        <p:txBody>
          <a:bodyPr vert="horz" wrap="square" lIns="0" tIns="0" rIns="0" bIns="0" rtlCol="0">
            <a:spAutoFit/>
          </a:bodyPr>
          <a:lstStyle/>
          <a:p>
            <a:pPr algn="ctr"/>
            <a:r>
              <a:rPr lang="vi-VN" sz="1300" b="1">
                <a:solidFill>
                  <a:srgbClr val="FFFFFF"/>
                </a:solidFill>
                <a:latin typeface="Arial" panose="020B0604020202020204" pitchFamily="34" charset="0"/>
              </a:rPr>
              <a:t>MÔI TRƯỜNG</a:t>
            </a:r>
            <a:endParaRPr lang="en-US" sz="1300" b="1">
              <a:solidFill>
                <a:srgbClr val="FFFFFF"/>
              </a:solidFill>
              <a:latin typeface="Arial" panose="020B0604020202020204" pitchFamily="34" charset="0"/>
            </a:endParaRPr>
          </a:p>
        </p:txBody>
      </p:sp>
      <p:sp>
        <p:nvSpPr>
          <p:cNvPr id="12" name="Hộp Văn bản 11">
            <a:extLst>
              <a:ext uri="{FF2B5EF4-FFF2-40B4-BE49-F238E27FC236}">
                <a16:creationId xmlns:a16="http://schemas.microsoft.com/office/drawing/2014/main" id="{AE3A67B9-1958-1587-B22A-A66FF4F97646}"/>
              </a:ext>
            </a:extLst>
          </p:cNvPr>
          <p:cNvSpPr txBox="1"/>
          <p:nvPr/>
        </p:nvSpPr>
        <p:spPr>
          <a:xfrm>
            <a:off x="901700" y="2578100"/>
            <a:ext cx="2768600" cy="1200329"/>
          </a:xfrm>
          <a:prstGeom prst="rect">
            <a:avLst/>
          </a:prstGeom>
          <a:noFill/>
        </p:spPr>
        <p:txBody>
          <a:bodyPr vert="horz" wrap="square" lIns="0" tIns="0" rIns="0" bIns="0" rtlCol="0">
            <a:spAutoFit/>
          </a:bodyPr>
          <a:lstStyle/>
          <a:p>
            <a:pPr algn="ctr"/>
            <a:r>
              <a:rPr lang="en-US" sz="1300" b="1">
                <a:solidFill>
                  <a:srgbClr val="141E30"/>
                </a:solidFill>
                <a:latin typeface="Arial" panose="020B0604020202020204" pitchFamily="34" charset="0"/>
              </a:rPr>
              <a:t>HIGH_TEMPERATURE
LOW_TEMPERATURE
HIGH_HUMIDITY
LOW_HUMIDITY
TEMPERATURE_RATE
HUMIDITY_RATE</a:t>
            </a:r>
          </a:p>
        </p:txBody>
      </p:sp>
      <p:sp>
        <p:nvSpPr>
          <p:cNvPr id="13" name="Hộp Văn bản 12">
            <a:extLst>
              <a:ext uri="{FF2B5EF4-FFF2-40B4-BE49-F238E27FC236}">
                <a16:creationId xmlns:a16="http://schemas.microsoft.com/office/drawing/2014/main" id="{4D70A7C5-B7CE-6DD7-FC56-CF91C1A36B0E}"/>
              </a:ext>
            </a:extLst>
          </p:cNvPr>
          <p:cNvSpPr txBox="1"/>
          <p:nvPr/>
        </p:nvSpPr>
        <p:spPr>
          <a:xfrm>
            <a:off x="965200" y="4711700"/>
            <a:ext cx="2641600" cy="553998"/>
          </a:xfrm>
          <a:prstGeom prst="rect">
            <a:avLst/>
          </a:prstGeom>
          <a:noFill/>
        </p:spPr>
        <p:txBody>
          <a:bodyPr vert="horz" wrap="square" lIns="0" tIns="0" rIns="0" bIns="0" rtlCol="0">
            <a:spAutoFit/>
          </a:bodyPr>
          <a:lstStyle/>
          <a:p>
            <a:pPr algn="ctr"/>
            <a:r>
              <a:rPr lang="en-US" sz="1200">
                <a:solidFill>
                  <a:srgbClr val="495869"/>
                </a:solidFill>
                <a:latin typeface="Arial" panose="020B0604020202020204" pitchFamily="34" charset="0"/>
              </a:rPr>
              <a:t>Ngưỡng + rate + lịch sử
→ anomaly_type
→ severity / score</a:t>
            </a:r>
          </a:p>
        </p:txBody>
      </p:sp>
      <p:sp>
        <p:nvSpPr>
          <p:cNvPr id="14" name="Hình chữ nhật: Góc Tròn 13">
            <a:extLst>
              <a:ext uri="{FF2B5EF4-FFF2-40B4-BE49-F238E27FC236}">
                <a16:creationId xmlns:a16="http://schemas.microsoft.com/office/drawing/2014/main" id="{A21C9A9E-00AF-8BF5-47DD-AA7D3E214041}"/>
              </a:ext>
            </a:extLst>
          </p:cNvPr>
          <p:cNvSpPr/>
          <p:nvPr/>
        </p:nvSpPr>
        <p:spPr>
          <a:xfrm>
            <a:off x="4292600" y="1600200"/>
            <a:ext cx="3352800" cy="40386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ình chữ nhật: Góc Tròn 14">
            <a:extLst>
              <a:ext uri="{FF2B5EF4-FFF2-40B4-BE49-F238E27FC236}">
                <a16:creationId xmlns:a16="http://schemas.microsoft.com/office/drawing/2014/main" id="{83271F9C-3DB4-E424-20F0-407B2AB43081}"/>
              </a:ext>
            </a:extLst>
          </p:cNvPr>
          <p:cNvSpPr/>
          <p:nvPr/>
        </p:nvSpPr>
        <p:spPr>
          <a:xfrm>
            <a:off x="4292600" y="1600200"/>
            <a:ext cx="3352800" cy="609600"/>
          </a:xfrm>
          <a:prstGeom prst="roundRect">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ộp Văn bản 15">
            <a:extLst>
              <a:ext uri="{FF2B5EF4-FFF2-40B4-BE49-F238E27FC236}">
                <a16:creationId xmlns:a16="http://schemas.microsoft.com/office/drawing/2014/main" id="{1FE3DB3A-BB34-3E89-A5A0-605315B9C80F}"/>
              </a:ext>
            </a:extLst>
          </p:cNvPr>
          <p:cNvSpPr txBox="1"/>
          <p:nvPr/>
        </p:nvSpPr>
        <p:spPr>
          <a:xfrm>
            <a:off x="4521200" y="1803400"/>
            <a:ext cx="2895600" cy="200055"/>
          </a:xfrm>
          <a:prstGeom prst="rect">
            <a:avLst/>
          </a:prstGeom>
          <a:noFill/>
        </p:spPr>
        <p:txBody>
          <a:bodyPr vert="horz" wrap="square" lIns="0" tIns="0" rIns="0" bIns="0" rtlCol="0">
            <a:spAutoFit/>
          </a:bodyPr>
          <a:lstStyle/>
          <a:p>
            <a:pPr algn="ctr"/>
            <a:r>
              <a:rPr lang="vi-VN" sz="1300" b="1">
                <a:solidFill>
                  <a:srgbClr val="FFFFFF"/>
                </a:solidFill>
                <a:latin typeface="Arial" panose="020B0604020202020204" pitchFamily="34" charset="0"/>
              </a:rPr>
              <a:t>CHẤT LƯỢNG DỮ LIỆU</a:t>
            </a:r>
            <a:endParaRPr lang="en-US" sz="1300" b="1">
              <a:solidFill>
                <a:srgbClr val="FFFFFF"/>
              </a:solidFill>
              <a:latin typeface="Arial" panose="020B0604020202020204" pitchFamily="34" charset="0"/>
            </a:endParaRPr>
          </a:p>
        </p:txBody>
      </p:sp>
      <p:sp>
        <p:nvSpPr>
          <p:cNvPr id="17" name="Hộp Văn bản 16">
            <a:extLst>
              <a:ext uri="{FF2B5EF4-FFF2-40B4-BE49-F238E27FC236}">
                <a16:creationId xmlns:a16="http://schemas.microsoft.com/office/drawing/2014/main" id="{AF7E0FC5-F8B0-ECEA-F6EF-5428C3586C9A}"/>
              </a:ext>
            </a:extLst>
          </p:cNvPr>
          <p:cNvSpPr txBox="1"/>
          <p:nvPr/>
        </p:nvSpPr>
        <p:spPr>
          <a:xfrm>
            <a:off x="4584700" y="2578100"/>
            <a:ext cx="2768600" cy="800219"/>
          </a:xfrm>
          <a:prstGeom prst="rect">
            <a:avLst/>
          </a:prstGeom>
          <a:noFill/>
        </p:spPr>
        <p:txBody>
          <a:bodyPr vert="horz" wrap="square" lIns="0" tIns="0" rIns="0" bIns="0" rtlCol="0">
            <a:spAutoFit/>
          </a:bodyPr>
          <a:lstStyle/>
          <a:p>
            <a:pPr algn="ctr"/>
            <a:r>
              <a:rPr lang="en-US" sz="1300" b="1">
                <a:solidFill>
                  <a:srgbClr val="141E30"/>
                </a:solidFill>
                <a:latin typeface="Arial" panose="020B0604020202020204" pitchFamily="34" charset="0"/>
              </a:rPr>
              <a:t>INVALID_SENSOR
SENSOR_STUCK
SEQUENCE_GAP
DEVICE_RESTART</a:t>
            </a:r>
          </a:p>
        </p:txBody>
      </p:sp>
      <p:sp>
        <p:nvSpPr>
          <p:cNvPr id="18" name="Hộp Văn bản 17">
            <a:extLst>
              <a:ext uri="{FF2B5EF4-FFF2-40B4-BE49-F238E27FC236}">
                <a16:creationId xmlns:a16="http://schemas.microsoft.com/office/drawing/2014/main" id="{698F2048-9D0D-CD4F-C076-E873DF619BAD}"/>
              </a:ext>
            </a:extLst>
          </p:cNvPr>
          <p:cNvSpPr txBox="1"/>
          <p:nvPr/>
        </p:nvSpPr>
        <p:spPr>
          <a:xfrm>
            <a:off x="4648200" y="4711700"/>
            <a:ext cx="2641600" cy="553998"/>
          </a:xfrm>
          <a:prstGeom prst="rect">
            <a:avLst/>
          </a:prstGeom>
          <a:noFill/>
        </p:spPr>
        <p:txBody>
          <a:bodyPr vert="horz" wrap="square" lIns="0" tIns="0" rIns="0" bIns="0" rtlCol="0">
            <a:spAutoFit/>
          </a:bodyPr>
          <a:lstStyle/>
          <a:p>
            <a:pPr algn="ctr"/>
            <a:r>
              <a:rPr lang="en-US" sz="1200">
                <a:solidFill>
                  <a:srgbClr val="495869"/>
                </a:solidFill>
                <a:latin typeface="Arial" panose="020B0604020202020204" pitchFamily="34" charset="0"/>
              </a:rPr>
              <a:t>Ngưỡng + rate + lịch sử
→ anomaly_type
→ severity / score</a:t>
            </a:r>
          </a:p>
        </p:txBody>
      </p:sp>
      <p:sp>
        <p:nvSpPr>
          <p:cNvPr id="19" name="Hình chữ nhật: Góc Tròn 18">
            <a:extLst>
              <a:ext uri="{FF2B5EF4-FFF2-40B4-BE49-F238E27FC236}">
                <a16:creationId xmlns:a16="http://schemas.microsoft.com/office/drawing/2014/main" id="{21B0A523-3A9D-499A-2796-0466D0D1DB8D}"/>
              </a:ext>
            </a:extLst>
          </p:cNvPr>
          <p:cNvSpPr/>
          <p:nvPr/>
        </p:nvSpPr>
        <p:spPr>
          <a:xfrm>
            <a:off x="7975600" y="1600200"/>
            <a:ext cx="3352800" cy="40386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ình chữ nhật: Góc Tròn 19">
            <a:extLst>
              <a:ext uri="{FF2B5EF4-FFF2-40B4-BE49-F238E27FC236}">
                <a16:creationId xmlns:a16="http://schemas.microsoft.com/office/drawing/2014/main" id="{E06E57BC-A7D5-3324-E3C7-DA4CACD65E9A}"/>
              </a:ext>
            </a:extLst>
          </p:cNvPr>
          <p:cNvSpPr/>
          <p:nvPr/>
        </p:nvSpPr>
        <p:spPr>
          <a:xfrm>
            <a:off x="7975600" y="1600200"/>
            <a:ext cx="3352800" cy="609600"/>
          </a:xfrm>
          <a:prstGeom prst="roundRect">
            <a:avLst/>
          </a:prstGeom>
          <a:solidFill>
            <a:srgbClr val="DC35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Hộp Văn bản 20">
            <a:extLst>
              <a:ext uri="{FF2B5EF4-FFF2-40B4-BE49-F238E27FC236}">
                <a16:creationId xmlns:a16="http://schemas.microsoft.com/office/drawing/2014/main" id="{8084C1B8-E10F-D608-91BD-0FD7492A27D7}"/>
              </a:ext>
            </a:extLst>
          </p:cNvPr>
          <p:cNvSpPr txBox="1"/>
          <p:nvPr/>
        </p:nvSpPr>
        <p:spPr>
          <a:xfrm>
            <a:off x="8204200" y="1803400"/>
            <a:ext cx="2895600" cy="200055"/>
          </a:xfrm>
          <a:prstGeom prst="rect">
            <a:avLst/>
          </a:prstGeom>
          <a:noFill/>
        </p:spPr>
        <p:txBody>
          <a:bodyPr vert="horz" wrap="square" lIns="0" tIns="0" rIns="0" bIns="0" rtlCol="0">
            <a:spAutoFit/>
          </a:bodyPr>
          <a:lstStyle/>
          <a:p>
            <a:pPr algn="ctr"/>
            <a:r>
              <a:rPr lang="en-US" sz="1300" b="1">
                <a:solidFill>
                  <a:srgbClr val="FFFFFF"/>
                </a:solidFill>
                <a:latin typeface="Arial" panose="020B0604020202020204" pitchFamily="34" charset="0"/>
              </a:rPr>
              <a:t>VẬN HÀNH</a:t>
            </a:r>
          </a:p>
        </p:txBody>
      </p:sp>
      <p:sp>
        <p:nvSpPr>
          <p:cNvPr id="22" name="Hộp Văn bản 21">
            <a:extLst>
              <a:ext uri="{FF2B5EF4-FFF2-40B4-BE49-F238E27FC236}">
                <a16:creationId xmlns:a16="http://schemas.microsoft.com/office/drawing/2014/main" id="{F7C05CDC-ECB0-634B-9A2E-A811B862F8D2}"/>
              </a:ext>
            </a:extLst>
          </p:cNvPr>
          <p:cNvSpPr txBox="1"/>
          <p:nvPr/>
        </p:nvSpPr>
        <p:spPr>
          <a:xfrm>
            <a:off x="8267700" y="2578100"/>
            <a:ext cx="2768600" cy="800219"/>
          </a:xfrm>
          <a:prstGeom prst="rect">
            <a:avLst/>
          </a:prstGeom>
          <a:noFill/>
        </p:spPr>
        <p:txBody>
          <a:bodyPr vert="horz" wrap="square" lIns="0" tIns="0" rIns="0" bIns="0" rtlCol="0">
            <a:spAutoFit/>
          </a:bodyPr>
          <a:lstStyle/>
          <a:p>
            <a:pPr algn="ctr"/>
            <a:r>
              <a:rPr lang="en-US" sz="1300" b="1">
                <a:solidFill>
                  <a:srgbClr val="141E30"/>
                </a:solidFill>
                <a:latin typeface="Arial" panose="020B0604020202020204" pitchFamily="34" charset="0"/>
              </a:rPr>
              <a:t>WEAK_SIGNAL
UNEXPECTED_MOTION
ACTUATOR_MISMATCH
CONNECTION_LOST</a:t>
            </a:r>
          </a:p>
        </p:txBody>
      </p:sp>
      <p:sp>
        <p:nvSpPr>
          <p:cNvPr id="23" name="Hộp Văn bản 22">
            <a:extLst>
              <a:ext uri="{FF2B5EF4-FFF2-40B4-BE49-F238E27FC236}">
                <a16:creationId xmlns:a16="http://schemas.microsoft.com/office/drawing/2014/main" id="{9835871B-2CD1-D24F-6A28-871D29A5DC2D}"/>
              </a:ext>
            </a:extLst>
          </p:cNvPr>
          <p:cNvSpPr txBox="1"/>
          <p:nvPr/>
        </p:nvSpPr>
        <p:spPr>
          <a:xfrm>
            <a:off x="8331200" y="4711700"/>
            <a:ext cx="2641600" cy="553998"/>
          </a:xfrm>
          <a:prstGeom prst="rect">
            <a:avLst/>
          </a:prstGeom>
          <a:noFill/>
        </p:spPr>
        <p:txBody>
          <a:bodyPr vert="horz" wrap="square" lIns="0" tIns="0" rIns="0" bIns="0" rtlCol="0">
            <a:spAutoFit/>
          </a:bodyPr>
          <a:lstStyle/>
          <a:p>
            <a:pPr algn="ctr"/>
            <a:r>
              <a:rPr lang="en-US" sz="1200">
                <a:solidFill>
                  <a:srgbClr val="495869"/>
                </a:solidFill>
                <a:latin typeface="Arial" panose="020B0604020202020204" pitchFamily="34" charset="0"/>
              </a:rPr>
              <a:t>Ngưỡng + rate + lịch sử
→ anomaly_type
→ severity / score</a:t>
            </a:r>
          </a:p>
        </p:txBody>
      </p:sp>
    </p:spTree>
    <p:extLst>
      <p:ext uri="{BB962C8B-B14F-4D97-AF65-F5344CB8AC3E}">
        <p14:creationId xmlns:p14="http://schemas.microsoft.com/office/powerpoint/2010/main" val="2222973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D221B8AD-5AF0-E4B8-CC5F-4490841341F2}"/>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390C0C7E-D3FD-DF05-1EDE-C860FFD7C641}"/>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E8280C46-D349-06AA-D5EB-E180A9C1A6C6}"/>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09 · RULE CHAIN</a:t>
            </a:r>
          </a:p>
        </p:txBody>
      </p:sp>
      <p:sp>
        <p:nvSpPr>
          <p:cNvPr id="5" name="Hộp Văn bản 4">
            <a:extLst>
              <a:ext uri="{FF2B5EF4-FFF2-40B4-BE49-F238E27FC236}">
                <a16:creationId xmlns:a16="http://schemas.microsoft.com/office/drawing/2014/main" id="{89ADD701-DE87-76C0-4779-30241641F012}"/>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Xử lý trong Rule Engine</a:t>
            </a:r>
          </a:p>
        </p:txBody>
      </p:sp>
      <p:sp>
        <p:nvSpPr>
          <p:cNvPr id="6" name="Hình chữ nhật 5">
            <a:extLst>
              <a:ext uri="{FF2B5EF4-FFF2-40B4-BE49-F238E27FC236}">
                <a16:creationId xmlns:a16="http://schemas.microsoft.com/office/drawing/2014/main" id="{FD03F133-FBA2-A43C-75AE-DB74E5D6A636}"/>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96154EC4-EEC9-AFEA-90F0-BA6ED69F08EA}"/>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F411B28E-C60A-36F9-B727-60DFD0AC6621}"/>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10</a:t>
            </a:r>
          </a:p>
        </p:txBody>
      </p:sp>
      <p:sp>
        <p:nvSpPr>
          <p:cNvPr id="9" name="Hình chữ nhật: Góc Tròn 8">
            <a:extLst>
              <a:ext uri="{FF2B5EF4-FFF2-40B4-BE49-F238E27FC236}">
                <a16:creationId xmlns:a16="http://schemas.microsoft.com/office/drawing/2014/main" id="{8E9062E0-EA29-D19F-1D07-59F44EF1EC99}"/>
              </a:ext>
            </a:extLst>
          </p:cNvPr>
          <p:cNvSpPr/>
          <p:nvPr/>
        </p:nvSpPr>
        <p:spPr>
          <a:xfrm>
            <a:off x="609600" y="1473200"/>
            <a:ext cx="10972800" cy="40640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Hình ảnh 10">
            <a:extLst>
              <a:ext uri="{FF2B5EF4-FFF2-40B4-BE49-F238E27FC236}">
                <a16:creationId xmlns:a16="http://schemas.microsoft.com/office/drawing/2014/main" id="{2B8BEC26-3889-537B-9570-3B5EF6BCFE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463800" y="1676400"/>
            <a:ext cx="7264400" cy="3632200"/>
          </a:xfrm>
          <a:prstGeom prst="rect">
            <a:avLst/>
          </a:prstGeom>
        </p:spPr>
      </p:pic>
      <p:sp>
        <p:nvSpPr>
          <p:cNvPr id="12" name="Hộp Văn bản 11">
            <a:extLst>
              <a:ext uri="{FF2B5EF4-FFF2-40B4-BE49-F238E27FC236}">
                <a16:creationId xmlns:a16="http://schemas.microsoft.com/office/drawing/2014/main" id="{F235586F-FFD7-B16B-D917-DA9A5EAC6E59}"/>
              </a:ext>
            </a:extLst>
          </p:cNvPr>
          <p:cNvSpPr txBox="1"/>
          <p:nvPr/>
        </p:nvSpPr>
        <p:spPr>
          <a:xfrm>
            <a:off x="965200" y="5740400"/>
            <a:ext cx="10261600" cy="246221"/>
          </a:xfrm>
          <a:prstGeom prst="rect">
            <a:avLst/>
          </a:prstGeom>
          <a:noFill/>
        </p:spPr>
        <p:txBody>
          <a:bodyPr vert="horz" wrap="square" lIns="0" tIns="0" rIns="0" bIns="0" rtlCol="0">
            <a:spAutoFit/>
          </a:bodyPr>
          <a:lstStyle/>
          <a:p>
            <a:pPr algn="ctr"/>
            <a:r>
              <a:rPr lang="en-US" sz="1600">
                <a:solidFill>
                  <a:srgbClr val="495869"/>
                </a:solidFill>
                <a:latin typeface="Arial" panose="020B0604020202020204" pitchFamily="34" charset="0"/>
              </a:rPr>
              <a:t>Một payload đi qua cùng pipeline: enrich → validate → detect → update twin → alarm → dashboard.</a:t>
            </a:r>
          </a:p>
        </p:txBody>
      </p:sp>
    </p:spTree>
    <p:extLst>
      <p:ext uri="{BB962C8B-B14F-4D97-AF65-F5344CB8AC3E}">
        <p14:creationId xmlns:p14="http://schemas.microsoft.com/office/powerpoint/2010/main" val="4068793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115344B0-8205-6BED-CE67-42B40D04C8BA}"/>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6FF68C01-4ED5-05E4-0447-FEF331B96C96}"/>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B108D9D7-70FA-B639-C24B-3FD8B49BDA5D}"/>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10 · DIGITAL TWIN UI</a:t>
            </a:r>
          </a:p>
        </p:txBody>
      </p:sp>
      <p:sp>
        <p:nvSpPr>
          <p:cNvPr id="5" name="Hộp Văn bản 4">
            <a:extLst>
              <a:ext uri="{FF2B5EF4-FFF2-40B4-BE49-F238E27FC236}">
                <a16:creationId xmlns:a16="http://schemas.microsoft.com/office/drawing/2014/main" id="{C892000A-F47D-2EB7-E6D5-72F0664ABF02}"/>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Dashboard vận hành</a:t>
            </a:r>
          </a:p>
        </p:txBody>
      </p:sp>
      <p:sp>
        <p:nvSpPr>
          <p:cNvPr id="6" name="Hình chữ nhật 5">
            <a:extLst>
              <a:ext uri="{FF2B5EF4-FFF2-40B4-BE49-F238E27FC236}">
                <a16:creationId xmlns:a16="http://schemas.microsoft.com/office/drawing/2014/main" id="{ADA78D95-3E65-5B4C-A546-3E8140908162}"/>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939EEDB2-3FD6-96D2-4891-8DEC682E8AA3}"/>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7E74A9DD-1649-A143-1ED4-6C572E02939A}"/>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11</a:t>
            </a:r>
          </a:p>
        </p:txBody>
      </p:sp>
      <p:sp>
        <p:nvSpPr>
          <p:cNvPr id="9" name="Hình chữ nhật: Góc Tròn 8">
            <a:extLst>
              <a:ext uri="{FF2B5EF4-FFF2-40B4-BE49-F238E27FC236}">
                <a16:creationId xmlns:a16="http://schemas.microsoft.com/office/drawing/2014/main" id="{3FC7B783-3B6E-BFE1-CE62-52CA7589824F}"/>
              </a:ext>
            </a:extLst>
          </p:cNvPr>
          <p:cNvSpPr/>
          <p:nvPr/>
        </p:nvSpPr>
        <p:spPr>
          <a:xfrm>
            <a:off x="609600" y="1460500"/>
            <a:ext cx="10972800" cy="4521200"/>
          </a:xfrm>
          <a:prstGeom prst="roundRect">
            <a:avLst/>
          </a:prstGeom>
          <a:solidFill>
            <a:srgbClr val="141E3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Hình ảnh 10">
            <a:extLst>
              <a:ext uri="{FF2B5EF4-FFF2-40B4-BE49-F238E27FC236}">
                <a16:creationId xmlns:a16="http://schemas.microsoft.com/office/drawing/2014/main" id="{90A7FA33-2C38-F5FA-F438-4BF81F2E83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898263" y="1549400"/>
            <a:ext cx="8395474" cy="4343400"/>
          </a:xfrm>
          <a:prstGeom prst="rect">
            <a:avLst/>
          </a:prstGeom>
        </p:spPr>
      </p:pic>
      <p:sp>
        <p:nvSpPr>
          <p:cNvPr id="12" name="Hình chữ nhật: Góc Tròn 11">
            <a:extLst>
              <a:ext uri="{FF2B5EF4-FFF2-40B4-BE49-F238E27FC236}">
                <a16:creationId xmlns:a16="http://schemas.microsoft.com/office/drawing/2014/main" id="{EBD0AE26-5594-843C-B00E-3A0247D73D34}"/>
              </a:ext>
            </a:extLst>
          </p:cNvPr>
          <p:cNvSpPr/>
          <p:nvPr/>
        </p:nvSpPr>
        <p:spPr>
          <a:xfrm>
            <a:off x="774700" y="5334000"/>
            <a:ext cx="10642600" cy="469900"/>
          </a:xfrm>
          <a:prstGeom prst="roundRect">
            <a:avLst/>
          </a:prstGeom>
          <a:solidFill>
            <a:srgbClr val="141E30">
              <a:alpha val="86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Hộp Văn bản 12">
            <a:extLst>
              <a:ext uri="{FF2B5EF4-FFF2-40B4-BE49-F238E27FC236}">
                <a16:creationId xmlns:a16="http://schemas.microsoft.com/office/drawing/2014/main" id="{173775B1-C952-97FA-8DB7-F3DC98626CA9}"/>
              </a:ext>
            </a:extLst>
          </p:cNvPr>
          <p:cNvSpPr txBox="1"/>
          <p:nvPr/>
        </p:nvSpPr>
        <p:spPr>
          <a:xfrm>
            <a:off x="1016000" y="5461000"/>
            <a:ext cx="10160000" cy="200055"/>
          </a:xfrm>
          <a:prstGeom prst="rect">
            <a:avLst/>
          </a:prstGeom>
          <a:noFill/>
        </p:spPr>
        <p:txBody>
          <a:bodyPr vert="horz" wrap="square" lIns="0" tIns="0" rIns="0" bIns="0" rtlCol="0">
            <a:spAutoFit/>
          </a:bodyPr>
          <a:lstStyle/>
          <a:p>
            <a:pPr algn="ctr"/>
            <a:r>
              <a:rPr lang="en-US" sz="1300" b="1">
                <a:solidFill>
                  <a:srgbClr val="FFFFFF"/>
                </a:solidFill>
                <a:latin typeface="Arial" panose="020B0604020202020204" pitchFamily="34" charset="0"/>
              </a:rPr>
              <a:t>19 widget · trạng thái hiện tại · gauges · lịch sử · alarm · RPC LED</a:t>
            </a:r>
          </a:p>
        </p:txBody>
      </p:sp>
    </p:spTree>
    <p:extLst>
      <p:ext uri="{BB962C8B-B14F-4D97-AF65-F5344CB8AC3E}">
        <p14:creationId xmlns:p14="http://schemas.microsoft.com/office/powerpoint/2010/main" val="2206853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A8FF5C73-C0F2-0235-C2D4-F7E7B7C003E7}"/>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59A0AACD-149F-7530-7713-237EA5B94F66}"/>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A0FFED6F-70FB-F5AA-94E8-BF61B53AF603}"/>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11 · OBSERVABILITY</a:t>
            </a:r>
          </a:p>
        </p:txBody>
      </p:sp>
      <p:sp>
        <p:nvSpPr>
          <p:cNvPr id="5" name="Hộp Văn bản 4">
            <a:extLst>
              <a:ext uri="{FF2B5EF4-FFF2-40B4-BE49-F238E27FC236}">
                <a16:creationId xmlns:a16="http://schemas.microsoft.com/office/drawing/2014/main" id="{750D4D32-2E73-05F3-91A4-643C7E4EB42C}"/>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Lịch sử và cảnh báo có thể truy vết</a:t>
            </a:r>
          </a:p>
        </p:txBody>
      </p:sp>
      <p:sp>
        <p:nvSpPr>
          <p:cNvPr id="6" name="Hình chữ nhật 5">
            <a:extLst>
              <a:ext uri="{FF2B5EF4-FFF2-40B4-BE49-F238E27FC236}">
                <a16:creationId xmlns:a16="http://schemas.microsoft.com/office/drawing/2014/main" id="{63111685-1B9B-C2ED-E10A-8B8207A2674A}"/>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5AC5BD6D-8190-913D-F0C4-2C5AB5BFE61A}"/>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C46482E1-956D-FE95-D33C-5363863A10BC}"/>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12</a:t>
            </a:r>
          </a:p>
        </p:txBody>
      </p:sp>
      <p:sp>
        <p:nvSpPr>
          <p:cNvPr id="9" name="Hình chữ nhật: Góc Tròn 8">
            <a:extLst>
              <a:ext uri="{FF2B5EF4-FFF2-40B4-BE49-F238E27FC236}">
                <a16:creationId xmlns:a16="http://schemas.microsoft.com/office/drawing/2014/main" id="{ACA7714A-3678-D7EE-D5F9-0B050A520CAD}"/>
              </a:ext>
            </a:extLst>
          </p:cNvPr>
          <p:cNvSpPr/>
          <p:nvPr/>
        </p:nvSpPr>
        <p:spPr>
          <a:xfrm>
            <a:off x="609600" y="1511300"/>
            <a:ext cx="5245100" cy="41402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Hình ảnh 10">
            <a:extLst>
              <a:ext uri="{FF2B5EF4-FFF2-40B4-BE49-F238E27FC236}">
                <a16:creationId xmlns:a16="http://schemas.microsoft.com/office/drawing/2014/main" id="{83587981-55D3-3C52-C436-88042CCF0F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11200" y="2277186"/>
            <a:ext cx="5041900" cy="2608428"/>
          </a:xfrm>
          <a:prstGeom prst="rect">
            <a:avLst/>
          </a:prstGeom>
        </p:spPr>
      </p:pic>
      <p:sp>
        <p:nvSpPr>
          <p:cNvPr id="12" name="Hình chữ nhật: Góc Tròn 11">
            <a:extLst>
              <a:ext uri="{FF2B5EF4-FFF2-40B4-BE49-F238E27FC236}">
                <a16:creationId xmlns:a16="http://schemas.microsoft.com/office/drawing/2014/main" id="{EEADD7BE-1AE9-4A5D-EA99-6FB96FEE271D}"/>
              </a:ext>
            </a:extLst>
          </p:cNvPr>
          <p:cNvSpPr/>
          <p:nvPr/>
        </p:nvSpPr>
        <p:spPr>
          <a:xfrm>
            <a:off x="6337300" y="1511300"/>
            <a:ext cx="5245100" cy="41402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Hình ảnh 13">
            <a:extLst>
              <a:ext uri="{FF2B5EF4-FFF2-40B4-BE49-F238E27FC236}">
                <a16:creationId xmlns:a16="http://schemas.microsoft.com/office/drawing/2014/main" id="{622CEF88-2F39-7A00-9233-A05FEC5E1B6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438900" y="2277186"/>
            <a:ext cx="5041900" cy="2608428"/>
          </a:xfrm>
          <a:prstGeom prst="rect">
            <a:avLst/>
          </a:prstGeom>
        </p:spPr>
      </p:pic>
      <p:sp>
        <p:nvSpPr>
          <p:cNvPr id="15" name="Hộp Văn bản 14">
            <a:extLst>
              <a:ext uri="{FF2B5EF4-FFF2-40B4-BE49-F238E27FC236}">
                <a16:creationId xmlns:a16="http://schemas.microsoft.com/office/drawing/2014/main" id="{7466EDFD-3B3D-E339-EA44-A8BB3C775814}"/>
              </a:ext>
            </a:extLst>
          </p:cNvPr>
          <p:cNvSpPr txBox="1"/>
          <p:nvPr/>
        </p:nvSpPr>
        <p:spPr>
          <a:xfrm>
            <a:off x="914400" y="5816600"/>
            <a:ext cx="4699000" cy="184666"/>
          </a:xfrm>
          <a:prstGeom prst="rect">
            <a:avLst/>
          </a:prstGeom>
          <a:noFill/>
        </p:spPr>
        <p:txBody>
          <a:bodyPr vert="horz" wrap="square" lIns="0" tIns="0" rIns="0" bIns="0" rtlCol="0">
            <a:spAutoFit/>
          </a:bodyPr>
          <a:lstStyle/>
          <a:p>
            <a:pPr algn="ctr"/>
            <a:r>
              <a:rPr lang="en-US" sz="1200" b="1">
                <a:solidFill>
                  <a:srgbClr val="00796B"/>
                </a:solidFill>
                <a:latin typeface="Arial" panose="020B0604020202020204" pitchFamily="34" charset="0"/>
              </a:rPr>
              <a:t>HISTORY</a:t>
            </a:r>
          </a:p>
        </p:txBody>
      </p:sp>
      <p:sp>
        <p:nvSpPr>
          <p:cNvPr id="16" name="Hộp Văn bản 15">
            <a:extLst>
              <a:ext uri="{FF2B5EF4-FFF2-40B4-BE49-F238E27FC236}">
                <a16:creationId xmlns:a16="http://schemas.microsoft.com/office/drawing/2014/main" id="{22E7881B-5711-FD2F-3FD1-1CF4EFB8BB62}"/>
              </a:ext>
            </a:extLst>
          </p:cNvPr>
          <p:cNvSpPr txBox="1"/>
          <p:nvPr/>
        </p:nvSpPr>
        <p:spPr>
          <a:xfrm>
            <a:off x="6629400" y="5816600"/>
            <a:ext cx="4699000" cy="184666"/>
          </a:xfrm>
          <a:prstGeom prst="rect">
            <a:avLst/>
          </a:prstGeom>
          <a:noFill/>
        </p:spPr>
        <p:txBody>
          <a:bodyPr vert="horz" wrap="square" lIns="0" tIns="0" rIns="0" bIns="0" rtlCol="0">
            <a:spAutoFit/>
          </a:bodyPr>
          <a:lstStyle/>
          <a:p>
            <a:pPr algn="ctr"/>
            <a:r>
              <a:rPr lang="en-US" sz="1200" b="1">
                <a:solidFill>
                  <a:srgbClr val="DC3545"/>
                </a:solidFill>
                <a:latin typeface="Arial" panose="020B0604020202020204" pitchFamily="34" charset="0"/>
              </a:rPr>
              <a:t>ALARMS</a:t>
            </a:r>
          </a:p>
        </p:txBody>
      </p:sp>
    </p:spTree>
    <p:extLst>
      <p:ext uri="{BB962C8B-B14F-4D97-AF65-F5344CB8AC3E}">
        <p14:creationId xmlns:p14="http://schemas.microsoft.com/office/powerpoint/2010/main" val="311995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AFF406DC-A878-8252-79CE-6229F0DCB27A}"/>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1354CBEF-7FA9-67A1-FDC4-718E3FE6C791}"/>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97D0D889-02A9-0A46-3788-59ED7EA36B1B}"/>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12 · RPC FEEDBACK</a:t>
            </a:r>
          </a:p>
        </p:txBody>
      </p:sp>
      <p:sp>
        <p:nvSpPr>
          <p:cNvPr id="5" name="Hộp Văn bản 4">
            <a:extLst>
              <a:ext uri="{FF2B5EF4-FFF2-40B4-BE49-F238E27FC236}">
                <a16:creationId xmlns:a16="http://schemas.microsoft.com/office/drawing/2014/main" id="{010F1DEC-EB6E-CCED-424D-2BEFA9842892}"/>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Vòng điều khiển hai chiều: LED</a:t>
            </a:r>
          </a:p>
        </p:txBody>
      </p:sp>
      <p:sp>
        <p:nvSpPr>
          <p:cNvPr id="6" name="Hình chữ nhật 5">
            <a:extLst>
              <a:ext uri="{FF2B5EF4-FFF2-40B4-BE49-F238E27FC236}">
                <a16:creationId xmlns:a16="http://schemas.microsoft.com/office/drawing/2014/main" id="{5AFE0680-2663-4533-0A4A-02E9E5989647}"/>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B2E6CEEC-E363-C468-8311-E6168ECFF698}"/>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7565BA58-8BFE-6F56-8B75-10F8A78F0B13}"/>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13</a:t>
            </a:r>
          </a:p>
        </p:txBody>
      </p:sp>
      <p:sp>
        <p:nvSpPr>
          <p:cNvPr id="9" name="Hình chữ nhật: Góc Tròn 8">
            <a:extLst>
              <a:ext uri="{FF2B5EF4-FFF2-40B4-BE49-F238E27FC236}">
                <a16:creationId xmlns:a16="http://schemas.microsoft.com/office/drawing/2014/main" id="{DD2DA6F9-5AF3-FAA7-1751-DEA478538FA7}"/>
              </a:ext>
            </a:extLst>
          </p:cNvPr>
          <p:cNvSpPr/>
          <p:nvPr/>
        </p:nvSpPr>
        <p:spPr>
          <a:xfrm>
            <a:off x="609600" y="1879600"/>
            <a:ext cx="2336800" cy="1676400"/>
          </a:xfrm>
          <a:prstGeom prst="round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ình Bầu dục 9">
            <a:extLst>
              <a:ext uri="{FF2B5EF4-FFF2-40B4-BE49-F238E27FC236}">
                <a16:creationId xmlns:a16="http://schemas.microsoft.com/office/drawing/2014/main" id="{327521FF-8B5C-BCB0-3965-E0C8C14DA567}"/>
              </a:ext>
            </a:extLst>
          </p:cNvPr>
          <p:cNvSpPr/>
          <p:nvPr/>
        </p:nvSpPr>
        <p:spPr>
          <a:xfrm>
            <a:off x="812800" y="2082800"/>
            <a:ext cx="381000" cy="3810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ộp Văn bản 10">
            <a:extLst>
              <a:ext uri="{FF2B5EF4-FFF2-40B4-BE49-F238E27FC236}">
                <a16:creationId xmlns:a16="http://schemas.microsoft.com/office/drawing/2014/main" id="{EEBA5DDA-47C8-6752-F698-135A956CF88A}"/>
              </a:ext>
            </a:extLst>
          </p:cNvPr>
          <p:cNvSpPr txBox="1"/>
          <p:nvPr/>
        </p:nvSpPr>
        <p:spPr>
          <a:xfrm>
            <a:off x="812800" y="2159000"/>
            <a:ext cx="381000" cy="169277"/>
          </a:xfrm>
          <a:prstGeom prst="rect">
            <a:avLst/>
          </a:prstGeom>
          <a:noFill/>
        </p:spPr>
        <p:txBody>
          <a:bodyPr vert="horz" wrap="square" lIns="0" tIns="0" rIns="0" bIns="0" rtlCol="0">
            <a:spAutoFit/>
          </a:bodyPr>
          <a:lstStyle/>
          <a:p>
            <a:pPr algn="ctr"/>
            <a:r>
              <a:rPr lang="en-US" sz="1100" b="1">
                <a:solidFill>
                  <a:srgbClr val="004D46"/>
                </a:solidFill>
                <a:latin typeface="Arial" panose="020B0604020202020204" pitchFamily="34" charset="0"/>
              </a:rPr>
              <a:t>1</a:t>
            </a:r>
          </a:p>
        </p:txBody>
      </p:sp>
      <p:sp>
        <p:nvSpPr>
          <p:cNvPr id="12" name="Hộp Văn bản 11">
            <a:extLst>
              <a:ext uri="{FF2B5EF4-FFF2-40B4-BE49-F238E27FC236}">
                <a16:creationId xmlns:a16="http://schemas.microsoft.com/office/drawing/2014/main" id="{BFEAD014-14E0-2D42-68E6-FCE125F45E14}"/>
              </a:ext>
            </a:extLst>
          </p:cNvPr>
          <p:cNvSpPr txBox="1"/>
          <p:nvPr/>
        </p:nvSpPr>
        <p:spPr>
          <a:xfrm>
            <a:off x="1320800" y="2095500"/>
            <a:ext cx="1447800" cy="246221"/>
          </a:xfrm>
          <a:prstGeom prst="rect">
            <a:avLst/>
          </a:prstGeom>
          <a:noFill/>
        </p:spPr>
        <p:txBody>
          <a:bodyPr vert="horz" wrap="square" lIns="0" tIns="0" rIns="0" bIns="0" rtlCol="0">
            <a:spAutoFit/>
          </a:bodyPr>
          <a:lstStyle/>
          <a:p>
            <a:r>
              <a:rPr lang="en-US" sz="1600" b="1">
                <a:solidFill>
                  <a:srgbClr val="FFFFFF"/>
                </a:solidFill>
                <a:latin typeface="Arial" panose="020B0604020202020204" pitchFamily="34" charset="0"/>
              </a:rPr>
              <a:t>Dashboard</a:t>
            </a:r>
          </a:p>
        </p:txBody>
      </p:sp>
      <p:sp>
        <p:nvSpPr>
          <p:cNvPr id="13" name="Hộp Văn bản 12">
            <a:extLst>
              <a:ext uri="{FF2B5EF4-FFF2-40B4-BE49-F238E27FC236}">
                <a16:creationId xmlns:a16="http://schemas.microsoft.com/office/drawing/2014/main" id="{9F83F3F7-3EE4-044A-4D2E-3ABBA4412EE4}"/>
              </a:ext>
            </a:extLst>
          </p:cNvPr>
          <p:cNvSpPr txBox="1"/>
          <p:nvPr/>
        </p:nvSpPr>
        <p:spPr>
          <a:xfrm>
            <a:off x="812800" y="2616200"/>
            <a:ext cx="1930400" cy="184666"/>
          </a:xfrm>
          <a:prstGeom prst="rect">
            <a:avLst/>
          </a:prstGeom>
          <a:noFill/>
        </p:spPr>
        <p:txBody>
          <a:bodyPr vert="horz" wrap="square" lIns="0" tIns="0" rIns="0" bIns="0" rtlCol="0">
            <a:spAutoFit/>
          </a:bodyPr>
          <a:lstStyle/>
          <a:p>
            <a:r>
              <a:rPr lang="en-US" sz="1200">
                <a:solidFill>
                  <a:srgbClr val="FFFFFF"/>
                </a:solidFill>
                <a:latin typeface="Arial" panose="020B0604020202020204" pitchFamily="34" charset="0"/>
              </a:rPr>
              <a:t>Người dùng đổi switch LED.</a:t>
            </a:r>
          </a:p>
        </p:txBody>
      </p:sp>
      <p:sp>
        <p:nvSpPr>
          <p:cNvPr id="14" name="Hình chữ nhật: Góc Tròn 13">
            <a:extLst>
              <a:ext uri="{FF2B5EF4-FFF2-40B4-BE49-F238E27FC236}">
                <a16:creationId xmlns:a16="http://schemas.microsoft.com/office/drawing/2014/main" id="{C9E5DFD4-3E44-C00C-CB97-16468267C0F6}"/>
              </a:ext>
            </a:extLst>
          </p:cNvPr>
          <p:cNvSpPr/>
          <p:nvPr/>
        </p:nvSpPr>
        <p:spPr>
          <a:xfrm>
            <a:off x="3225800" y="1879600"/>
            <a:ext cx="2336800" cy="1676400"/>
          </a:xfrm>
          <a:prstGeom prst="roundRect">
            <a:avLst/>
          </a:prstGeom>
          <a:solidFill>
            <a:srgbClr val="00897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ình Bầu dục 14">
            <a:extLst>
              <a:ext uri="{FF2B5EF4-FFF2-40B4-BE49-F238E27FC236}">
                <a16:creationId xmlns:a16="http://schemas.microsoft.com/office/drawing/2014/main" id="{3ADA29C3-1516-D19E-CA6F-064D10D96C45}"/>
              </a:ext>
            </a:extLst>
          </p:cNvPr>
          <p:cNvSpPr/>
          <p:nvPr/>
        </p:nvSpPr>
        <p:spPr>
          <a:xfrm>
            <a:off x="3429000" y="2082800"/>
            <a:ext cx="381000" cy="3810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ộp Văn bản 15">
            <a:extLst>
              <a:ext uri="{FF2B5EF4-FFF2-40B4-BE49-F238E27FC236}">
                <a16:creationId xmlns:a16="http://schemas.microsoft.com/office/drawing/2014/main" id="{F56615EB-BC2D-8368-215B-DC44E5B8DD45}"/>
              </a:ext>
            </a:extLst>
          </p:cNvPr>
          <p:cNvSpPr txBox="1"/>
          <p:nvPr/>
        </p:nvSpPr>
        <p:spPr>
          <a:xfrm>
            <a:off x="3429000" y="2159000"/>
            <a:ext cx="381000" cy="169277"/>
          </a:xfrm>
          <a:prstGeom prst="rect">
            <a:avLst/>
          </a:prstGeom>
          <a:noFill/>
        </p:spPr>
        <p:txBody>
          <a:bodyPr vert="horz" wrap="square" lIns="0" tIns="0" rIns="0" bIns="0" rtlCol="0">
            <a:spAutoFit/>
          </a:bodyPr>
          <a:lstStyle/>
          <a:p>
            <a:pPr algn="ctr"/>
            <a:r>
              <a:rPr lang="en-US" sz="1100" b="1">
                <a:solidFill>
                  <a:srgbClr val="004D46"/>
                </a:solidFill>
                <a:latin typeface="Arial" panose="020B0604020202020204" pitchFamily="34" charset="0"/>
              </a:rPr>
              <a:t>2</a:t>
            </a:r>
          </a:p>
        </p:txBody>
      </p:sp>
      <p:sp>
        <p:nvSpPr>
          <p:cNvPr id="17" name="Hộp Văn bản 16">
            <a:extLst>
              <a:ext uri="{FF2B5EF4-FFF2-40B4-BE49-F238E27FC236}">
                <a16:creationId xmlns:a16="http://schemas.microsoft.com/office/drawing/2014/main" id="{8799D39E-C40D-5B41-DB40-FCE7E7C4E14A}"/>
              </a:ext>
            </a:extLst>
          </p:cNvPr>
          <p:cNvSpPr txBox="1"/>
          <p:nvPr/>
        </p:nvSpPr>
        <p:spPr>
          <a:xfrm>
            <a:off x="3937000" y="2095500"/>
            <a:ext cx="1447800" cy="492443"/>
          </a:xfrm>
          <a:prstGeom prst="rect">
            <a:avLst/>
          </a:prstGeom>
          <a:noFill/>
        </p:spPr>
        <p:txBody>
          <a:bodyPr vert="horz" wrap="square" lIns="0" tIns="0" rIns="0" bIns="0" rtlCol="0">
            <a:spAutoFit/>
          </a:bodyPr>
          <a:lstStyle/>
          <a:p>
            <a:r>
              <a:rPr lang="en-US" sz="1600" b="1">
                <a:solidFill>
                  <a:srgbClr val="FFFFFF"/>
                </a:solidFill>
                <a:latin typeface="Arial" panose="020B0604020202020204" pitchFamily="34" charset="0"/>
              </a:rPr>
              <a:t>Server-side RPC</a:t>
            </a:r>
          </a:p>
        </p:txBody>
      </p:sp>
      <p:sp>
        <p:nvSpPr>
          <p:cNvPr id="18" name="Hộp Văn bản 17">
            <a:extLst>
              <a:ext uri="{FF2B5EF4-FFF2-40B4-BE49-F238E27FC236}">
                <a16:creationId xmlns:a16="http://schemas.microsoft.com/office/drawing/2014/main" id="{92A8105D-43D8-A515-83EF-AFDB3F010E4C}"/>
              </a:ext>
            </a:extLst>
          </p:cNvPr>
          <p:cNvSpPr txBox="1"/>
          <p:nvPr/>
        </p:nvSpPr>
        <p:spPr>
          <a:xfrm>
            <a:off x="3429000" y="2616200"/>
            <a:ext cx="1930400" cy="184666"/>
          </a:xfrm>
          <a:prstGeom prst="rect">
            <a:avLst/>
          </a:prstGeom>
          <a:noFill/>
        </p:spPr>
        <p:txBody>
          <a:bodyPr vert="horz" wrap="square" lIns="0" tIns="0" rIns="0" bIns="0" rtlCol="0">
            <a:spAutoFit/>
          </a:bodyPr>
          <a:lstStyle/>
          <a:p>
            <a:r>
              <a:rPr lang="en-US" sz="1200">
                <a:solidFill>
                  <a:srgbClr val="FFFFFF"/>
                </a:solidFill>
                <a:latin typeface="Arial" panose="020B0604020202020204" pitchFamily="34" charset="0"/>
              </a:rPr>
              <a:t>ThingsBoard gửi setLed.</a:t>
            </a:r>
          </a:p>
        </p:txBody>
      </p:sp>
      <p:sp>
        <p:nvSpPr>
          <p:cNvPr id="19" name="Hình chữ nhật: Góc Tròn 18">
            <a:extLst>
              <a:ext uri="{FF2B5EF4-FFF2-40B4-BE49-F238E27FC236}">
                <a16:creationId xmlns:a16="http://schemas.microsoft.com/office/drawing/2014/main" id="{3B43E37B-4A11-A92A-EC20-E5B1C502C65E}"/>
              </a:ext>
            </a:extLst>
          </p:cNvPr>
          <p:cNvSpPr/>
          <p:nvPr/>
        </p:nvSpPr>
        <p:spPr>
          <a:xfrm>
            <a:off x="5842000" y="1879600"/>
            <a:ext cx="2336800" cy="1676400"/>
          </a:xfrm>
          <a:prstGeom prst="roundRect">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ình Bầu dục 19">
            <a:extLst>
              <a:ext uri="{FF2B5EF4-FFF2-40B4-BE49-F238E27FC236}">
                <a16:creationId xmlns:a16="http://schemas.microsoft.com/office/drawing/2014/main" id="{A1A2C37A-41BF-6715-F340-ADDADA862D1B}"/>
              </a:ext>
            </a:extLst>
          </p:cNvPr>
          <p:cNvSpPr/>
          <p:nvPr/>
        </p:nvSpPr>
        <p:spPr>
          <a:xfrm>
            <a:off x="6045200" y="2082800"/>
            <a:ext cx="381000" cy="3810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Hộp Văn bản 20">
            <a:extLst>
              <a:ext uri="{FF2B5EF4-FFF2-40B4-BE49-F238E27FC236}">
                <a16:creationId xmlns:a16="http://schemas.microsoft.com/office/drawing/2014/main" id="{8C8F15B2-7D44-5FC2-39AE-F1D7AF5E1537}"/>
              </a:ext>
            </a:extLst>
          </p:cNvPr>
          <p:cNvSpPr txBox="1"/>
          <p:nvPr/>
        </p:nvSpPr>
        <p:spPr>
          <a:xfrm>
            <a:off x="6045200" y="2159000"/>
            <a:ext cx="381000" cy="169277"/>
          </a:xfrm>
          <a:prstGeom prst="rect">
            <a:avLst/>
          </a:prstGeom>
          <a:noFill/>
        </p:spPr>
        <p:txBody>
          <a:bodyPr vert="horz" wrap="square" lIns="0" tIns="0" rIns="0" bIns="0" rtlCol="0">
            <a:spAutoFit/>
          </a:bodyPr>
          <a:lstStyle/>
          <a:p>
            <a:pPr algn="ctr"/>
            <a:r>
              <a:rPr lang="en-US" sz="1100" b="1">
                <a:solidFill>
                  <a:srgbClr val="004D46"/>
                </a:solidFill>
                <a:latin typeface="Arial" panose="020B0604020202020204" pitchFamily="34" charset="0"/>
              </a:rPr>
              <a:t>3</a:t>
            </a:r>
          </a:p>
        </p:txBody>
      </p:sp>
      <p:sp>
        <p:nvSpPr>
          <p:cNvPr id="22" name="Hộp Văn bản 21">
            <a:extLst>
              <a:ext uri="{FF2B5EF4-FFF2-40B4-BE49-F238E27FC236}">
                <a16:creationId xmlns:a16="http://schemas.microsoft.com/office/drawing/2014/main" id="{BE5DFA2C-E2A9-9DEA-AD11-701AF44164CE}"/>
              </a:ext>
            </a:extLst>
          </p:cNvPr>
          <p:cNvSpPr txBox="1"/>
          <p:nvPr/>
        </p:nvSpPr>
        <p:spPr>
          <a:xfrm>
            <a:off x="6553200" y="2095500"/>
            <a:ext cx="1447800" cy="246221"/>
          </a:xfrm>
          <a:prstGeom prst="rect">
            <a:avLst/>
          </a:prstGeom>
          <a:noFill/>
        </p:spPr>
        <p:txBody>
          <a:bodyPr vert="horz" wrap="square" lIns="0" tIns="0" rIns="0" bIns="0" rtlCol="0">
            <a:spAutoFit/>
          </a:bodyPr>
          <a:lstStyle/>
          <a:p>
            <a:r>
              <a:rPr lang="en-US" sz="1600" b="1">
                <a:solidFill>
                  <a:srgbClr val="FFFFFF"/>
                </a:solidFill>
                <a:latin typeface="Arial" panose="020B0604020202020204" pitchFamily="34" charset="0"/>
              </a:rPr>
              <a:t>ESP32</a:t>
            </a:r>
          </a:p>
        </p:txBody>
      </p:sp>
      <p:sp>
        <p:nvSpPr>
          <p:cNvPr id="23" name="Hộp Văn bản 22">
            <a:extLst>
              <a:ext uri="{FF2B5EF4-FFF2-40B4-BE49-F238E27FC236}">
                <a16:creationId xmlns:a16="http://schemas.microsoft.com/office/drawing/2014/main" id="{0E9F8547-6565-FAD9-2750-1979236D86CC}"/>
              </a:ext>
            </a:extLst>
          </p:cNvPr>
          <p:cNvSpPr txBox="1"/>
          <p:nvPr/>
        </p:nvSpPr>
        <p:spPr>
          <a:xfrm>
            <a:off x="6045200" y="2616200"/>
            <a:ext cx="1930400" cy="184666"/>
          </a:xfrm>
          <a:prstGeom prst="rect">
            <a:avLst/>
          </a:prstGeom>
          <a:noFill/>
        </p:spPr>
        <p:txBody>
          <a:bodyPr vert="horz" wrap="square" lIns="0" tIns="0" rIns="0" bIns="0" rtlCol="0">
            <a:spAutoFit/>
          </a:bodyPr>
          <a:lstStyle/>
          <a:p>
            <a:r>
              <a:rPr lang="en-US" sz="1200">
                <a:solidFill>
                  <a:srgbClr val="FFFFFF"/>
                </a:solidFill>
                <a:latin typeface="Arial" panose="020B0604020202020204" pitchFamily="34" charset="0"/>
              </a:rPr>
              <a:t>Firmware đổi GPIO2.</a:t>
            </a:r>
          </a:p>
        </p:txBody>
      </p:sp>
      <p:sp>
        <p:nvSpPr>
          <p:cNvPr id="24" name="Hình chữ nhật: Góc Tròn 23">
            <a:extLst>
              <a:ext uri="{FF2B5EF4-FFF2-40B4-BE49-F238E27FC236}">
                <a16:creationId xmlns:a16="http://schemas.microsoft.com/office/drawing/2014/main" id="{F5E14126-B01F-D08F-19C8-FA49ADAAA3F0}"/>
              </a:ext>
            </a:extLst>
          </p:cNvPr>
          <p:cNvSpPr/>
          <p:nvPr/>
        </p:nvSpPr>
        <p:spPr>
          <a:xfrm>
            <a:off x="8458200" y="1879600"/>
            <a:ext cx="2336800" cy="1676400"/>
          </a:xfrm>
          <a:prstGeom prst="roundRect">
            <a:avLst/>
          </a:prstGeom>
          <a:solidFill>
            <a:srgbClr val="14915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Hình Bầu dục 24">
            <a:extLst>
              <a:ext uri="{FF2B5EF4-FFF2-40B4-BE49-F238E27FC236}">
                <a16:creationId xmlns:a16="http://schemas.microsoft.com/office/drawing/2014/main" id="{778B85E3-195E-6AF7-FAD5-F54545F3ECAB}"/>
              </a:ext>
            </a:extLst>
          </p:cNvPr>
          <p:cNvSpPr/>
          <p:nvPr/>
        </p:nvSpPr>
        <p:spPr>
          <a:xfrm>
            <a:off x="8661400" y="2082800"/>
            <a:ext cx="381000" cy="38100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ộp Văn bản 25">
            <a:extLst>
              <a:ext uri="{FF2B5EF4-FFF2-40B4-BE49-F238E27FC236}">
                <a16:creationId xmlns:a16="http://schemas.microsoft.com/office/drawing/2014/main" id="{E8A89E74-74CF-9E67-9431-ECA49388B7A6}"/>
              </a:ext>
            </a:extLst>
          </p:cNvPr>
          <p:cNvSpPr txBox="1"/>
          <p:nvPr/>
        </p:nvSpPr>
        <p:spPr>
          <a:xfrm>
            <a:off x="8661400" y="2159000"/>
            <a:ext cx="381000" cy="169277"/>
          </a:xfrm>
          <a:prstGeom prst="rect">
            <a:avLst/>
          </a:prstGeom>
          <a:noFill/>
        </p:spPr>
        <p:txBody>
          <a:bodyPr vert="horz" wrap="square" lIns="0" tIns="0" rIns="0" bIns="0" rtlCol="0">
            <a:spAutoFit/>
          </a:bodyPr>
          <a:lstStyle/>
          <a:p>
            <a:pPr algn="ctr"/>
            <a:r>
              <a:rPr lang="en-US" sz="1100" b="1">
                <a:solidFill>
                  <a:srgbClr val="004D46"/>
                </a:solidFill>
                <a:latin typeface="Arial" panose="020B0604020202020204" pitchFamily="34" charset="0"/>
              </a:rPr>
              <a:t>4</a:t>
            </a:r>
          </a:p>
        </p:txBody>
      </p:sp>
      <p:sp>
        <p:nvSpPr>
          <p:cNvPr id="27" name="Hộp Văn bản 26">
            <a:extLst>
              <a:ext uri="{FF2B5EF4-FFF2-40B4-BE49-F238E27FC236}">
                <a16:creationId xmlns:a16="http://schemas.microsoft.com/office/drawing/2014/main" id="{D4ACD5D8-A8E0-239A-636F-3FB800CA6FCE}"/>
              </a:ext>
            </a:extLst>
          </p:cNvPr>
          <p:cNvSpPr txBox="1"/>
          <p:nvPr/>
        </p:nvSpPr>
        <p:spPr>
          <a:xfrm>
            <a:off x="9169400" y="2095500"/>
            <a:ext cx="1447800" cy="246221"/>
          </a:xfrm>
          <a:prstGeom prst="rect">
            <a:avLst/>
          </a:prstGeom>
          <a:noFill/>
        </p:spPr>
        <p:txBody>
          <a:bodyPr vert="horz" wrap="square" lIns="0" tIns="0" rIns="0" bIns="0" rtlCol="0">
            <a:spAutoFit/>
          </a:bodyPr>
          <a:lstStyle/>
          <a:p>
            <a:r>
              <a:rPr lang="en-US" sz="1600" b="1">
                <a:solidFill>
                  <a:srgbClr val="FFFFFF"/>
                </a:solidFill>
                <a:latin typeface="Arial" panose="020B0604020202020204" pitchFamily="34" charset="0"/>
              </a:rPr>
              <a:t>Feedback</a:t>
            </a:r>
          </a:p>
        </p:txBody>
      </p:sp>
      <p:sp>
        <p:nvSpPr>
          <p:cNvPr id="28" name="Hộp Văn bản 27">
            <a:extLst>
              <a:ext uri="{FF2B5EF4-FFF2-40B4-BE49-F238E27FC236}">
                <a16:creationId xmlns:a16="http://schemas.microsoft.com/office/drawing/2014/main" id="{69E9819A-74B3-0BEF-31B7-762FD475A2B6}"/>
              </a:ext>
            </a:extLst>
          </p:cNvPr>
          <p:cNvSpPr txBox="1"/>
          <p:nvPr/>
        </p:nvSpPr>
        <p:spPr>
          <a:xfrm>
            <a:off x="8661400" y="2616200"/>
            <a:ext cx="1930400" cy="369332"/>
          </a:xfrm>
          <a:prstGeom prst="rect">
            <a:avLst/>
          </a:prstGeom>
          <a:noFill/>
        </p:spPr>
        <p:txBody>
          <a:bodyPr vert="horz" wrap="square" lIns="0" tIns="0" rIns="0" bIns="0" rtlCol="0">
            <a:spAutoFit/>
          </a:bodyPr>
          <a:lstStyle/>
          <a:p>
            <a:r>
              <a:rPr lang="en-US" sz="1200">
                <a:solidFill>
                  <a:srgbClr val="FFFFFF"/>
                </a:solidFill>
                <a:latin typeface="Arial" panose="020B0604020202020204" pitchFamily="34" charset="0"/>
              </a:rPr>
              <a:t>Publish led_state; Twin đối chiếu.</a:t>
            </a:r>
          </a:p>
        </p:txBody>
      </p:sp>
      <p:sp>
        <p:nvSpPr>
          <p:cNvPr id="29" name="Mũi tên: Hình V 28">
            <a:extLst>
              <a:ext uri="{FF2B5EF4-FFF2-40B4-BE49-F238E27FC236}">
                <a16:creationId xmlns:a16="http://schemas.microsoft.com/office/drawing/2014/main" id="{A4BCC93B-A371-5905-0D09-6873F676BFF8}"/>
              </a:ext>
            </a:extLst>
          </p:cNvPr>
          <p:cNvSpPr/>
          <p:nvPr/>
        </p:nvSpPr>
        <p:spPr>
          <a:xfrm>
            <a:off x="2946400" y="2463800"/>
            <a:ext cx="279400" cy="457200"/>
          </a:xfrm>
          <a:prstGeom prst="chevron">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Mũi tên: Hình V 29">
            <a:extLst>
              <a:ext uri="{FF2B5EF4-FFF2-40B4-BE49-F238E27FC236}">
                <a16:creationId xmlns:a16="http://schemas.microsoft.com/office/drawing/2014/main" id="{D540F3D5-B835-BC16-39A6-06D15AB8C80B}"/>
              </a:ext>
            </a:extLst>
          </p:cNvPr>
          <p:cNvSpPr/>
          <p:nvPr/>
        </p:nvSpPr>
        <p:spPr>
          <a:xfrm>
            <a:off x="5562600" y="2463800"/>
            <a:ext cx="279400" cy="457200"/>
          </a:xfrm>
          <a:prstGeom prst="chevron">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Mũi tên: Hình V 30">
            <a:extLst>
              <a:ext uri="{FF2B5EF4-FFF2-40B4-BE49-F238E27FC236}">
                <a16:creationId xmlns:a16="http://schemas.microsoft.com/office/drawing/2014/main" id="{80492E61-8F59-54FA-B37D-7C2ED8B93EB8}"/>
              </a:ext>
            </a:extLst>
          </p:cNvPr>
          <p:cNvSpPr/>
          <p:nvPr/>
        </p:nvSpPr>
        <p:spPr>
          <a:xfrm>
            <a:off x="8178800" y="2463800"/>
            <a:ext cx="279400" cy="457200"/>
          </a:xfrm>
          <a:prstGeom prst="chevron">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Hình chữ nhật: Góc Tròn 31">
            <a:extLst>
              <a:ext uri="{FF2B5EF4-FFF2-40B4-BE49-F238E27FC236}">
                <a16:creationId xmlns:a16="http://schemas.microsoft.com/office/drawing/2014/main" id="{974405ED-5692-8E43-58CF-8668B50C3F6A}"/>
              </a:ext>
            </a:extLst>
          </p:cNvPr>
          <p:cNvSpPr/>
          <p:nvPr/>
        </p:nvSpPr>
        <p:spPr>
          <a:xfrm>
            <a:off x="609600" y="4064000"/>
            <a:ext cx="10185400" cy="1473200"/>
          </a:xfrm>
          <a:prstGeom prst="roundRect">
            <a:avLst/>
          </a:prstGeom>
          <a:solidFill>
            <a:srgbClr val="E3F2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Hộp Văn bản 32">
            <a:extLst>
              <a:ext uri="{FF2B5EF4-FFF2-40B4-BE49-F238E27FC236}">
                <a16:creationId xmlns:a16="http://schemas.microsoft.com/office/drawing/2014/main" id="{10F9BB8D-F87C-48C5-9C6F-001706B294B9}"/>
              </a:ext>
            </a:extLst>
          </p:cNvPr>
          <p:cNvSpPr txBox="1"/>
          <p:nvPr/>
        </p:nvSpPr>
        <p:spPr>
          <a:xfrm>
            <a:off x="965200" y="4356100"/>
            <a:ext cx="3810000" cy="369332"/>
          </a:xfrm>
          <a:prstGeom prst="rect">
            <a:avLst/>
          </a:prstGeom>
          <a:noFill/>
        </p:spPr>
        <p:txBody>
          <a:bodyPr vert="horz" wrap="square" lIns="0" tIns="0" rIns="0" bIns="0" rtlCol="0">
            <a:spAutoFit/>
          </a:bodyPr>
          <a:lstStyle/>
          <a:p>
            <a:r>
              <a:rPr lang="en-US" sz="2400" b="1">
                <a:solidFill>
                  <a:srgbClr val="004D46"/>
                </a:solidFill>
                <a:latin typeface="Arial" panose="020B0604020202020204" pitchFamily="34" charset="0"/>
              </a:rPr>
              <a:t>Expected = observed</a:t>
            </a:r>
          </a:p>
        </p:txBody>
      </p:sp>
      <p:sp>
        <p:nvSpPr>
          <p:cNvPr id="34" name="Hộp Văn bản 33">
            <a:extLst>
              <a:ext uri="{FF2B5EF4-FFF2-40B4-BE49-F238E27FC236}">
                <a16:creationId xmlns:a16="http://schemas.microsoft.com/office/drawing/2014/main" id="{0210376C-6FC3-555F-0390-E52A8DF95F52}"/>
              </a:ext>
            </a:extLst>
          </p:cNvPr>
          <p:cNvSpPr txBox="1"/>
          <p:nvPr/>
        </p:nvSpPr>
        <p:spPr>
          <a:xfrm>
            <a:off x="965200" y="4889500"/>
            <a:ext cx="8255000" cy="261610"/>
          </a:xfrm>
          <a:prstGeom prst="rect">
            <a:avLst/>
          </a:prstGeom>
          <a:noFill/>
        </p:spPr>
        <p:txBody>
          <a:bodyPr vert="horz" wrap="square" lIns="0" tIns="0" rIns="0" bIns="0" rtlCol="0">
            <a:spAutoFit/>
          </a:bodyPr>
          <a:lstStyle/>
          <a:p>
            <a:r>
              <a:rPr lang="en-US" sz="1700">
                <a:solidFill>
                  <a:srgbClr val="141E30"/>
                </a:solidFill>
                <a:latin typeface="Arial" panose="020B0604020202020204" pitchFamily="34" charset="0"/>
              </a:rPr>
              <a:t>Nếu khác nhau trong 3 mẫu liên tiếp → ACTUATOR_MISMATCH.</a:t>
            </a:r>
          </a:p>
        </p:txBody>
      </p:sp>
      <p:sp>
        <p:nvSpPr>
          <p:cNvPr id="35" name="Mũi tên: Phải 34">
            <a:extLst>
              <a:ext uri="{FF2B5EF4-FFF2-40B4-BE49-F238E27FC236}">
                <a16:creationId xmlns:a16="http://schemas.microsoft.com/office/drawing/2014/main" id="{CCB244FA-E313-F58B-B3BC-D75D100EF1E7}"/>
              </a:ext>
            </a:extLst>
          </p:cNvPr>
          <p:cNvSpPr/>
          <p:nvPr/>
        </p:nvSpPr>
        <p:spPr>
          <a:xfrm>
            <a:off x="10198100" y="4368800"/>
            <a:ext cx="952500" cy="660400"/>
          </a:xfrm>
          <a:prstGeom prst="rightArrow">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5076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FAD00B5D-563D-86BE-43C9-A2662B4F2B92}"/>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974B6CCD-FF0E-6F10-07A9-9028523E5A6C}"/>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B5166AC5-1778-2E0C-3997-F016CC54DB94}"/>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13 · VERIFICATION</a:t>
            </a:r>
          </a:p>
        </p:txBody>
      </p:sp>
      <p:sp>
        <p:nvSpPr>
          <p:cNvPr id="5" name="Hộp Văn bản 4">
            <a:extLst>
              <a:ext uri="{FF2B5EF4-FFF2-40B4-BE49-F238E27FC236}">
                <a16:creationId xmlns:a16="http://schemas.microsoft.com/office/drawing/2014/main" id="{E08830ED-DDDB-48DE-A71D-A29933DD1CEF}"/>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Kiểm thử end-to-end</a:t>
            </a:r>
          </a:p>
        </p:txBody>
      </p:sp>
      <p:sp>
        <p:nvSpPr>
          <p:cNvPr id="6" name="Hình chữ nhật 5">
            <a:extLst>
              <a:ext uri="{FF2B5EF4-FFF2-40B4-BE49-F238E27FC236}">
                <a16:creationId xmlns:a16="http://schemas.microsoft.com/office/drawing/2014/main" id="{7A6AAB38-FD7B-EC6C-3B57-9961DAE09D8D}"/>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8803CA2E-E9D9-DA35-8C59-11F46138EDF1}"/>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14AB8BDA-4B96-1333-99BC-2954B0215223}"/>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14</a:t>
            </a:r>
          </a:p>
        </p:txBody>
      </p:sp>
      <p:sp>
        <p:nvSpPr>
          <p:cNvPr id="9" name="Hình chữ nhật: Góc Tròn 8">
            <a:extLst>
              <a:ext uri="{FF2B5EF4-FFF2-40B4-BE49-F238E27FC236}">
                <a16:creationId xmlns:a16="http://schemas.microsoft.com/office/drawing/2014/main" id="{8704DD12-0DDF-B40B-657A-5F56DF5FC80F}"/>
              </a:ext>
            </a:extLst>
          </p:cNvPr>
          <p:cNvSpPr/>
          <p:nvPr/>
        </p:nvSpPr>
        <p:spPr>
          <a:xfrm>
            <a:off x="609600" y="1524000"/>
            <a:ext cx="5143500" cy="42799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ộp Văn bản 9">
            <a:extLst>
              <a:ext uri="{FF2B5EF4-FFF2-40B4-BE49-F238E27FC236}">
                <a16:creationId xmlns:a16="http://schemas.microsoft.com/office/drawing/2014/main" id="{D4B90701-3A02-FFB9-1CF9-D8ADA08C46D0}"/>
              </a:ext>
            </a:extLst>
          </p:cNvPr>
          <p:cNvSpPr txBox="1"/>
          <p:nvPr/>
        </p:nvSpPr>
        <p:spPr>
          <a:xfrm>
            <a:off x="965200" y="1879600"/>
            <a:ext cx="3175000" cy="307777"/>
          </a:xfrm>
          <a:prstGeom prst="rect">
            <a:avLst/>
          </a:prstGeom>
          <a:noFill/>
        </p:spPr>
        <p:txBody>
          <a:bodyPr vert="horz" wrap="square" lIns="0" tIns="0" rIns="0" bIns="0" rtlCol="0">
            <a:spAutoFit/>
          </a:bodyPr>
          <a:lstStyle/>
          <a:p>
            <a:r>
              <a:rPr lang="en-US" sz="2000" b="1">
                <a:solidFill>
                  <a:srgbClr val="004D46"/>
                </a:solidFill>
                <a:latin typeface="Arial" panose="020B0604020202020204" pitchFamily="34" charset="0"/>
              </a:rPr>
              <a:t>Acceptance test</a:t>
            </a:r>
          </a:p>
        </p:txBody>
      </p:sp>
      <p:sp>
        <p:nvSpPr>
          <p:cNvPr id="11" name="Hình Bầu dục 10">
            <a:extLst>
              <a:ext uri="{FF2B5EF4-FFF2-40B4-BE49-F238E27FC236}">
                <a16:creationId xmlns:a16="http://schemas.microsoft.com/office/drawing/2014/main" id="{0F9AC202-AAD0-887D-F6C1-EB44BEA003FE}"/>
              </a:ext>
            </a:extLst>
          </p:cNvPr>
          <p:cNvSpPr/>
          <p:nvPr/>
        </p:nvSpPr>
        <p:spPr>
          <a:xfrm>
            <a:off x="965200" y="26035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ộp Văn bản 11">
            <a:extLst>
              <a:ext uri="{FF2B5EF4-FFF2-40B4-BE49-F238E27FC236}">
                <a16:creationId xmlns:a16="http://schemas.microsoft.com/office/drawing/2014/main" id="{CA59821B-1113-B003-5E72-2312EF2629CE}"/>
              </a:ext>
            </a:extLst>
          </p:cNvPr>
          <p:cNvSpPr txBox="1"/>
          <p:nvPr/>
        </p:nvSpPr>
        <p:spPr>
          <a:xfrm>
            <a:off x="1219200" y="2514600"/>
            <a:ext cx="4127500" cy="461665"/>
          </a:xfrm>
          <a:prstGeom prst="rect">
            <a:avLst/>
          </a:prstGeom>
          <a:noFill/>
        </p:spPr>
        <p:txBody>
          <a:bodyPr vert="horz" wrap="square" lIns="0" tIns="0" rIns="0" bIns="0" rtlCol="0">
            <a:spAutoFit/>
          </a:bodyPr>
          <a:lstStyle/>
          <a:p>
            <a:r>
              <a:rPr lang="vi-VN" sz="1500">
                <a:solidFill>
                  <a:srgbClr val="141E30"/>
                </a:solidFill>
                <a:latin typeface="Arial" panose="020B0604020202020204" pitchFamily="34" charset="0"/>
              </a:rPr>
              <a:t>14 kịch bản × 10 lượt = 140 ca; baseline kiểm tra FAR riêng</a:t>
            </a:r>
            <a:endParaRPr lang="en-US" sz="1500">
              <a:solidFill>
                <a:srgbClr val="141E30"/>
              </a:solidFill>
              <a:latin typeface="Arial" panose="020B0604020202020204" pitchFamily="34" charset="0"/>
            </a:endParaRPr>
          </a:p>
        </p:txBody>
      </p:sp>
      <p:sp>
        <p:nvSpPr>
          <p:cNvPr id="13" name="Hình Bầu dục 12">
            <a:extLst>
              <a:ext uri="{FF2B5EF4-FFF2-40B4-BE49-F238E27FC236}">
                <a16:creationId xmlns:a16="http://schemas.microsoft.com/office/drawing/2014/main" id="{248B5916-AC8C-AD46-CB84-D7A1A14E144A}"/>
              </a:ext>
            </a:extLst>
          </p:cNvPr>
          <p:cNvSpPr/>
          <p:nvPr/>
        </p:nvSpPr>
        <p:spPr>
          <a:xfrm>
            <a:off x="965200" y="33020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ộp Văn bản 13">
            <a:extLst>
              <a:ext uri="{FF2B5EF4-FFF2-40B4-BE49-F238E27FC236}">
                <a16:creationId xmlns:a16="http://schemas.microsoft.com/office/drawing/2014/main" id="{C114C418-D358-136A-3BD6-5B05650D229D}"/>
              </a:ext>
            </a:extLst>
          </p:cNvPr>
          <p:cNvSpPr txBox="1"/>
          <p:nvPr/>
        </p:nvSpPr>
        <p:spPr>
          <a:xfrm>
            <a:off x="1219200" y="3213100"/>
            <a:ext cx="4127500" cy="230832"/>
          </a:xfrm>
          <a:prstGeom prst="rect">
            <a:avLst/>
          </a:prstGeom>
          <a:noFill/>
        </p:spPr>
        <p:txBody>
          <a:bodyPr vert="horz" wrap="square" lIns="0" tIns="0" rIns="0" bIns="0" rtlCol="0">
            <a:spAutoFit/>
          </a:bodyPr>
          <a:lstStyle/>
          <a:p>
            <a:r>
              <a:rPr lang="en-US" sz="1500">
                <a:solidFill>
                  <a:srgbClr val="141E30"/>
                </a:solidFill>
                <a:latin typeface="Arial" panose="020B0604020202020204" pitchFamily="34" charset="0"/>
              </a:rPr>
              <a:t>Payload đi qua Device API và Rule Engine thật</a:t>
            </a:r>
          </a:p>
        </p:txBody>
      </p:sp>
      <p:sp>
        <p:nvSpPr>
          <p:cNvPr id="15" name="Hình Bầu dục 14">
            <a:extLst>
              <a:ext uri="{FF2B5EF4-FFF2-40B4-BE49-F238E27FC236}">
                <a16:creationId xmlns:a16="http://schemas.microsoft.com/office/drawing/2014/main" id="{CCB6B833-012F-A68B-290F-EE648A406A4A}"/>
              </a:ext>
            </a:extLst>
          </p:cNvPr>
          <p:cNvSpPr/>
          <p:nvPr/>
        </p:nvSpPr>
        <p:spPr>
          <a:xfrm>
            <a:off x="965200" y="40005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ộp Văn bản 15">
            <a:extLst>
              <a:ext uri="{FF2B5EF4-FFF2-40B4-BE49-F238E27FC236}">
                <a16:creationId xmlns:a16="http://schemas.microsoft.com/office/drawing/2014/main" id="{DBF1D5E9-EC5E-5386-F6DA-CBC309422BEB}"/>
              </a:ext>
            </a:extLst>
          </p:cNvPr>
          <p:cNvSpPr txBox="1"/>
          <p:nvPr/>
        </p:nvSpPr>
        <p:spPr>
          <a:xfrm>
            <a:off x="1219200" y="3911600"/>
            <a:ext cx="4127500" cy="230832"/>
          </a:xfrm>
          <a:prstGeom prst="rect">
            <a:avLst/>
          </a:prstGeom>
          <a:noFill/>
        </p:spPr>
        <p:txBody>
          <a:bodyPr vert="horz" wrap="square" lIns="0" tIns="0" rIns="0" bIns="0" rtlCol="0">
            <a:spAutoFit/>
          </a:bodyPr>
          <a:lstStyle/>
          <a:p>
            <a:r>
              <a:rPr lang="en-US" sz="1500">
                <a:solidFill>
                  <a:srgbClr val="141E30"/>
                </a:solidFill>
                <a:latin typeface="Arial" panose="020B0604020202020204" pitchFamily="34" charset="0"/>
              </a:rPr>
              <a:t>Đối chiếu Asset state, Alarm và latency</a:t>
            </a:r>
          </a:p>
        </p:txBody>
      </p:sp>
      <p:sp>
        <p:nvSpPr>
          <p:cNvPr id="17" name="Hình Bầu dục 16">
            <a:extLst>
              <a:ext uri="{FF2B5EF4-FFF2-40B4-BE49-F238E27FC236}">
                <a16:creationId xmlns:a16="http://schemas.microsoft.com/office/drawing/2014/main" id="{7A9B7ADC-207B-2D6E-F1B8-6786F6026B43}"/>
              </a:ext>
            </a:extLst>
          </p:cNvPr>
          <p:cNvSpPr/>
          <p:nvPr/>
        </p:nvSpPr>
        <p:spPr>
          <a:xfrm>
            <a:off x="965200" y="46990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ộp Văn bản 17">
            <a:extLst>
              <a:ext uri="{FF2B5EF4-FFF2-40B4-BE49-F238E27FC236}">
                <a16:creationId xmlns:a16="http://schemas.microsoft.com/office/drawing/2014/main" id="{8486A0B9-8460-5A84-C294-CBF0853ACB88}"/>
              </a:ext>
            </a:extLst>
          </p:cNvPr>
          <p:cNvSpPr txBox="1"/>
          <p:nvPr/>
        </p:nvSpPr>
        <p:spPr>
          <a:xfrm>
            <a:off x="1219200" y="4610100"/>
            <a:ext cx="4127500" cy="230832"/>
          </a:xfrm>
          <a:prstGeom prst="rect">
            <a:avLst/>
          </a:prstGeom>
          <a:noFill/>
        </p:spPr>
        <p:txBody>
          <a:bodyPr vert="horz" wrap="square" lIns="0" tIns="0" rIns="0" bIns="0" rtlCol="0">
            <a:spAutoFit/>
          </a:bodyPr>
          <a:lstStyle/>
          <a:p>
            <a:r>
              <a:rPr lang="en-US" sz="1500">
                <a:solidFill>
                  <a:srgbClr val="141E30"/>
                </a:solidFill>
                <a:latin typeface="Arial" panose="020B0604020202020204" pitchFamily="34" charset="0"/>
              </a:rPr>
              <a:t>Ngưỡng: TDR ≥90%, FAR ≤5%, latency ≤15s</a:t>
            </a:r>
          </a:p>
        </p:txBody>
      </p:sp>
      <p:sp>
        <p:nvSpPr>
          <p:cNvPr id="19" name="Hình chữ nhật: Góc Tròn 18">
            <a:extLst>
              <a:ext uri="{FF2B5EF4-FFF2-40B4-BE49-F238E27FC236}">
                <a16:creationId xmlns:a16="http://schemas.microsoft.com/office/drawing/2014/main" id="{4EFDE0BC-2929-1D5E-EF55-0978D8FF057B}"/>
              </a:ext>
            </a:extLst>
          </p:cNvPr>
          <p:cNvSpPr/>
          <p:nvPr/>
        </p:nvSpPr>
        <p:spPr>
          <a:xfrm>
            <a:off x="6057900" y="1524000"/>
            <a:ext cx="5524500" cy="4279900"/>
          </a:xfrm>
          <a:prstGeom prst="roundRect">
            <a:avLst/>
          </a:prstGeom>
          <a:solidFill>
            <a:srgbClr val="E3F2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ộp Văn bản 19">
            <a:extLst>
              <a:ext uri="{FF2B5EF4-FFF2-40B4-BE49-F238E27FC236}">
                <a16:creationId xmlns:a16="http://schemas.microsoft.com/office/drawing/2014/main" id="{BF8893FC-F6FB-FDB9-CE8F-CB87EF9A458E}"/>
              </a:ext>
            </a:extLst>
          </p:cNvPr>
          <p:cNvSpPr txBox="1"/>
          <p:nvPr/>
        </p:nvSpPr>
        <p:spPr>
          <a:xfrm>
            <a:off x="6413500" y="1879600"/>
            <a:ext cx="3810000" cy="307777"/>
          </a:xfrm>
          <a:prstGeom prst="rect">
            <a:avLst/>
          </a:prstGeom>
          <a:noFill/>
        </p:spPr>
        <p:txBody>
          <a:bodyPr vert="horz" wrap="square" lIns="0" tIns="0" rIns="0" bIns="0" rtlCol="0">
            <a:spAutoFit/>
          </a:bodyPr>
          <a:lstStyle/>
          <a:p>
            <a:r>
              <a:rPr lang="en-US" sz="2000" b="1">
                <a:solidFill>
                  <a:srgbClr val="004D46"/>
                </a:solidFill>
                <a:latin typeface="Arial" panose="020B0604020202020204" pitchFamily="34" charset="0"/>
              </a:rPr>
              <a:t>Smoke test vận hành</a:t>
            </a:r>
          </a:p>
        </p:txBody>
      </p:sp>
      <p:sp>
        <p:nvSpPr>
          <p:cNvPr id="21" name="Hình Bầu dục 20">
            <a:extLst>
              <a:ext uri="{FF2B5EF4-FFF2-40B4-BE49-F238E27FC236}">
                <a16:creationId xmlns:a16="http://schemas.microsoft.com/office/drawing/2014/main" id="{1136DAC7-E800-7C62-2DE3-4F1BD5273F88}"/>
              </a:ext>
            </a:extLst>
          </p:cNvPr>
          <p:cNvSpPr/>
          <p:nvPr/>
        </p:nvSpPr>
        <p:spPr>
          <a:xfrm>
            <a:off x="6413500" y="2603500"/>
            <a:ext cx="114300" cy="114300"/>
          </a:xfrm>
          <a:prstGeom prst="ellipse">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Hộp Văn bản 21">
            <a:extLst>
              <a:ext uri="{FF2B5EF4-FFF2-40B4-BE49-F238E27FC236}">
                <a16:creationId xmlns:a16="http://schemas.microsoft.com/office/drawing/2014/main" id="{9A4B4980-CFCB-2918-33E5-944FCC7BD5FF}"/>
              </a:ext>
            </a:extLst>
          </p:cNvPr>
          <p:cNvSpPr txBox="1"/>
          <p:nvPr/>
        </p:nvSpPr>
        <p:spPr>
          <a:xfrm>
            <a:off x="6667500" y="2514600"/>
            <a:ext cx="4381500" cy="230832"/>
          </a:xfrm>
          <a:prstGeom prst="rect">
            <a:avLst/>
          </a:prstGeom>
          <a:noFill/>
        </p:spPr>
        <p:txBody>
          <a:bodyPr vert="horz" wrap="square" lIns="0" tIns="0" rIns="0" bIns="0" rtlCol="0">
            <a:spAutoFit/>
          </a:bodyPr>
          <a:lstStyle/>
          <a:p>
            <a:r>
              <a:rPr lang="vi-VN" sz="1500">
                <a:solidFill>
                  <a:srgbClr val="141E30"/>
                </a:solidFill>
                <a:latin typeface="Arial" panose="020B0604020202020204" pitchFamily="34" charset="0"/>
              </a:rPr>
              <a:t>Thời lượng 1 phút, chu kỳ 5 giây</a:t>
            </a:r>
            <a:endParaRPr lang="en-US" sz="1500">
              <a:solidFill>
                <a:srgbClr val="141E30"/>
              </a:solidFill>
              <a:latin typeface="Arial" panose="020B0604020202020204" pitchFamily="34" charset="0"/>
            </a:endParaRPr>
          </a:p>
        </p:txBody>
      </p:sp>
      <p:sp>
        <p:nvSpPr>
          <p:cNvPr id="23" name="Hình Bầu dục 22">
            <a:extLst>
              <a:ext uri="{FF2B5EF4-FFF2-40B4-BE49-F238E27FC236}">
                <a16:creationId xmlns:a16="http://schemas.microsoft.com/office/drawing/2014/main" id="{44B07321-EBBE-7377-37DB-15992A1E6B37}"/>
              </a:ext>
            </a:extLst>
          </p:cNvPr>
          <p:cNvSpPr/>
          <p:nvPr/>
        </p:nvSpPr>
        <p:spPr>
          <a:xfrm>
            <a:off x="6413500" y="3302000"/>
            <a:ext cx="114300" cy="114300"/>
          </a:xfrm>
          <a:prstGeom prst="ellipse">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ộp Văn bản 23">
            <a:extLst>
              <a:ext uri="{FF2B5EF4-FFF2-40B4-BE49-F238E27FC236}">
                <a16:creationId xmlns:a16="http://schemas.microsoft.com/office/drawing/2014/main" id="{67AE1C4A-7405-31CA-124F-8A2461C826ED}"/>
              </a:ext>
            </a:extLst>
          </p:cNvPr>
          <p:cNvSpPr txBox="1"/>
          <p:nvPr/>
        </p:nvSpPr>
        <p:spPr>
          <a:xfrm>
            <a:off x="6667500" y="3213100"/>
            <a:ext cx="4381500" cy="230832"/>
          </a:xfrm>
          <a:prstGeom prst="rect">
            <a:avLst/>
          </a:prstGeom>
          <a:noFill/>
        </p:spPr>
        <p:txBody>
          <a:bodyPr vert="horz" wrap="square" lIns="0" tIns="0" rIns="0" bIns="0" rtlCol="0">
            <a:spAutoFit/>
          </a:bodyPr>
          <a:lstStyle/>
          <a:p>
            <a:r>
              <a:rPr lang="en-US" sz="1500">
                <a:solidFill>
                  <a:srgbClr val="141E30"/>
                </a:solidFill>
                <a:latin typeface="Arial" panose="020B0604020202020204" pitchFamily="34" charset="0"/>
              </a:rPr>
              <a:t>12 mẫu kỳ vọng / 12 mẫu nhận</a:t>
            </a:r>
          </a:p>
        </p:txBody>
      </p:sp>
      <p:sp>
        <p:nvSpPr>
          <p:cNvPr id="25" name="Hình Bầu dục 24">
            <a:extLst>
              <a:ext uri="{FF2B5EF4-FFF2-40B4-BE49-F238E27FC236}">
                <a16:creationId xmlns:a16="http://schemas.microsoft.com/office/drawing/2014/main" id="{B921E3C1-22B8-0D52-5BE6-10C544B56B0D}"/>
              </a:ext>
            </a:extLst>
          </p:cNvPr>
          <p:cNvSpPr/>
          <p:nvPr/>
        </p:nvSpPr>
        <p:spPr>
          <a:xfrm>
            <a:off x="6413500" y="4000500"/>
            <a:ext cx="114300" cy="114300"/>
          </a:xfrm>
          <a:prstGeom prst="ellipse">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ộp Văn bản 25">
            <a:extLst>
              <a:ext uri="{FF2B5EF4-FFF2-40B4-BE49-F238E27FC236}">
                <a16:creationId xmlns:a16="http://schemas.microsoft.com/office/drawing/2014/main" id="{469B44B2-83BD-39EC-FE50-5B208C4844D8}"/>
              </a:ext>
            </a:extLst>
          </p:cNvPr>
          <p:cNvSpPr txBox="1"/>
          <p:nvPr/>
        </p:nvSpPr>
        <p:spPr>
          <a:xfrm>
            <a:off x="6667500" y="3911600"/>
            <a:ext cx="4381500" cy="230832"/>
          </a:xfrm>
          <a:prstGeom prst="rect">
            <a:avLst/>
          </a:prstGeom>
          <a:noFill/>
        </p:spPr>
        <p:txBody>
          <a:bodyPr vert="horz" wrap="square" lIns="0" tIns="0" rIns="0" bIns="0" rtlCol="0">
            <a:spAutoFit/>
          </a:bodyPr>
          <a:lstStyle/>
          <a:p>
            <a:r>
              <a:rPr lang="de-DE" sz="1500">
                <a:solidFill>
                  <a:srgbClr val="141E30"/>
                </a:solidFill>
                <a:latin typeface="Arial" panose="020B0604020202020204" pitchFamily="34" charset="0"/>
              </a:rPr>
              <a:t>NORMAL và ONLINE đạt 100%</a:t>
            </a:r>
            <a:endParaRPr lang="en-US" sz="1500">
              <a:solidFill>
                <a:srgbClr val="141E30"/>
              </a:solidFill>
              <a:latin typeface="Arial" panose="020B0604020202020204" pitchFamily="34" charset="0"/>
            </a:endParaRPr>
          </a:p>
        </p:txBody>
      </p:sp>
      <p:sp>
        <p:nvSpPr>
          <p:cNvPr id="27" name="Hình Bầu dục 26">
            <a:extLst>
              <a:ext uri="{FF2B5EF4-FFF2-40B4-BE49-F238E27FC236}">
                <a16:creationId xmlns:a16="http://schemas.microsoft.com/office/drawing/2014/main" id="{3A7705BD-BD26-FD08-D096-9822840BA705}"/>
              </a:ext>
            </a:extLst>
          </p:cNvPr>
          <p:cNvSpPr/>
          <p:nvPr/>
        </p:nvSpPr>
        <p:spPr>
          <a:xfrm>
            <a:off x="6413500" y="4699000"/>
            <a:ext cx="114300" cy="114300"/>
          </a:xfrm>
          <a:prstGeom prst="ellipse">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Hộp Văn bản 27">
            <a:extLst>
              <a:ext uri="{FF2B5EF4-FFF2-40B4-BE49-F238E27FC236}">
                <a16:creationId xmlns:a16="http://schemas.microsoft.com/office/drawing/2014/main" id="{BA2DCA63-AD11-14E6-700F-22E981184EB8}"/>
              </a:ext>
            </a:extLst>
          </p:cNvPr>
          <p:cNvSpPr txBox="1"/>
          <p:nvPr/>
        </p:nvSpPr>
        <p:spPr>
          <a:xfrm>
            <a:off x="6667500" y="4610100"/>
            <a:ext cx="4381500" cy="461665"/>
          </a:xfrm>
          <a:prstGeom prst="rect">
            <a:avLst/>
          </a:prstGeom>
          <a:noFill/>
        </p:spPr>
        <p:txBody>
          <a:bodyPr vert="horz" wrap="square" lIns="0" tIns="0" rIns="0" bIns="0" rtlCol="0">
            <a:spAutoFit/>
          </a:bodyPr>
          <a:lstStyle/>
          <a:p>
            <a:r>
              <a:rPr lang="en-US" sz="1500">
                <a:solidFill>
                  <a:srgbClr val="141E30"/>
                </a:solidFill>
                <a:latin typeface="Arial" panose="020B0604020202020204" pitchFamily="34" charset="0"/>
              </a:rPr>
              <a:t>Dùng đúng phạm vi bài tập lớn; không tuyên bố độ bền dài hạn</a:t>
            </a:r>
          </a:p>
        </p:txBody>
      </p:sp>
    </p:spTree>
    <p:extLst>
      <p:ext uri="{BB962C8B-B14F-4D97-AF65-F5344CB8AC3E}">
        <p14:creationId xmlns:p14="http://schemas.microsoft.com/office/powerpoint/2010/main" val="1878298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2858BFFB-13E9-2D21-11ED-96BA1E52D312}"/>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16D932A3-10BB-6D76-FEDE-FAB9DF0751A4}"/>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711EA39F-DC45-D195-3BF3-8EA251A9C862}"/>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14 · RESULTS</a:t>
            </a:r>
          </a:p>
        </p:txBody>
      </p:sp>
      <p:sp>
        <p:nvSpPr>
          <p:cNvPr id="5" name="Hộp Văn bản 4">
            <a:extLst>
              <a:ext uri="{FF2B5EF4-FFF2-40B4-BE49-F238E27FC236}">
                <a16:creationId xmlns:a16="http://schemas.microsoft.com/office/drawing/2014/main" id="{885FCF46-B8CB-5F8D-FBC6-20ACC247914C}"/>
              </a:ext>
            </a:extLst>
          </p:cNvPr>
          <p:cNvSpPr txBox="1"/>
          <p:nvPr/>
        </p:nvSpPr>
        <p:spPr>
          <a:xfrm>
            <a:off x="609600" y="622300"/>
            <a:ext cx="10795000" cy="430887"/>
          </a:xfrm>
          <a:prstGeom prst="rect">
            <a:avLst/>
          </a:prstGeom>
          <a:noFill/>
        </p:spPr>
        <p:txBody>
          <a:bodyPr vert="horz" wrap="square" lIns="0" tIns="0" rIns="0" bIns="0" rtlCol="0">
            <a:spAutoFit/>
          </a:bodyPr>
          <a:lstStyle/>
          <a:p>
            <a:r>
              <a:rPr lang="vi-VN" sz="2800" b="1">
                <a:solidFill>
                  <a:srgbClr val="141E30"/>
                </a:solidFill>
                <a:latin typeface="Arial" panose="020B0604020202020204" pitchFamily="34" charset="0"/>
              </a:rPr>
              <a:t>Kết quả định lượng</a:t>
            </a:r>
            <a:endParaRPr lang="en-US" sz="2800" b="1">
              <a:solidFill>
                <a:srgbClr val="141E30"/>
              </a:solidFill>
              <a:latin typeface="Arial" panose="020B0604020202020204" pitchFamily="34" charset="0"/>
            </a:endParaRPr>
          </a:p>
        </p:txBody>
      </p:sp>
      <p:sp>
        <p:nvSpPr>
          <p:cNvPr id="6" name="Hình chữ nhật 5">
            <a:extLst>
              <a:ext uri="{FF2B5EF4-FFF2-40B4-BE49-F238E27FC236}">
                <a16:creationId xmlns:a16="http://schemas.microsoft.com/office/drawing/2014/main" id="{924E0424-68E7-09DC-8A84-8AFFC238169F}"/>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F85BECED-4CE0-C62D-7C67-4B37373642C5}"/>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AE71C07D-C2ED-7B2C-4565-C34FB5C5A9E3}"/>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15</a:t>
            </a:r>
          </a:p>
        </p:txBody>
      </p:sp>
      <p:sp>
        <p:nvSpPr>
          <p:cNvPr id="9" name="Hình chữ nhật: Góc Tròn 8">
            <a:extLst>
              <a:ext uri="{FF2B5EF4-FFF2-40B4-BE49-F238E27FC236}">
                <a16:creationId xmlns:a16="http://schemas.microsoft.com/office/drawing/2014/main" id="{DF9E8F94-20B5-31C4-2736-0F70E42648CA}"/>
              </a:ext>
            </a:extLst>
          </p:cNvPr>
          <p:cNvSpPr/>
          <p:nvPr/>
        </p:nvSpPr>
        <p:spPr>
          <a:xfrm>
            <a:off x="609600" y="1511300"/>
            <a:ext cx="2489200" cy="11684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ình chữ nhật: Góc Tròn 9">
            <a:extLst>
              <a:ext uri="{FF2B5EF4-FFF2-40B4-BE49-F238E27FC236}">
                <a16:creationId xmlns:a16="http://schemas.microsoft.com/office/drawing/2014/main" id="{946AD47D-2DFA-7BA5-E005-839F576D1FEE}"/>
              </a:ext>
            </a:extLst>
          </p:cNvPr>
          <p:cNvSpPr/>
          <p:nvPr/>
        </p:nvSpPr>
        <p:spPr>
          <a:xfrm>
            <a:off x="609600" y="1511300"/>
            <a:ext cx="88900" cy="1168400"/>
          </a:xfrm>
          <a:prstGeom prst="roundRect">
            <a:avLst/>
          </a:prstGeom>
          <a:solidFill>
            <a:srgbClr val="14915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ộp Văn bản 10">
            <a:extLst>
              <a:ext uri="{FF2B5EF4-FFF2-40B4-BE49-F238E27FC236}">
                <a16:creationId xmlns:a16="http://schemas.microsoft.com/office/drawing/2014/main" id="{3C2F7944-1E80-E816-1340-6C2DECE647FD}"/>
              </a:ext>
            </a:extLst>
          </p:cNvPr>
          <p:cNvSpPr txBox="1"/>
          <p:nvPr/>
        </p:nvSpPr>
        <p:spPr>
          <a:xfrm>
            <a:off x="850900" y="1676400"/>
            <a:ext cx="2108200" cy="415498"/>
          </a:xfrm>
          <a:prstGeom prst="rect">
            <a:avLst/>
          </a:prstGeom>
          <a:noFill/>
        </p:spPr>
        <p:txBody>
          <a:bodyPr vert="horz" wrap="square" lIns="0" tIns="0" rIns="0" bIns="0" rtlCol="0">
            <a:spAutoFit/>
          </a:bodyPr>
          <a:lstStyle/>
          <a:p>
            <a:r>
              <a:rPr lang="en-US" sz="2700" b="1">
                <a:solidFill>
                  <a:srgbClr val="149153"/>
                </a:solidFill>
                <a:latin typeface="Arial" panose="020B0604020202020204" pitchFamily="34" charset="0"/>
              </a:rPr>
              <a:t>100%</a:t>
            </a:r>
          </a:p>
        </p:txBody>
      </p:sp>
      <p:sp>
        <p:nvSpPr>
          <p:cNvPr id="12" name="Hộp Văn bản 11">
            <a:extLst>
              <a:ext uri="{FF2B5EF4-FFF2-40B4-BE49-F238E27FC236}">
                <a16:creationId xmlns:a16="http://schemas.microsoft.com/office/drawing/2014/main" id="{44D1907C-EAC2-E057-6F45-78F9907A9B83}"/>
              </a:ext>
            </a:extLst>
          </p:cNvPr>
          <p:cNvSpPr txBox="1"/>
          <p:nvPr/>
        </p:nvSpPr>
        <p:spPr>
          <a:xfrm>
            <a:off x="850900" y="2222500"/>
            <a:ext cx="2108200" cy="169277"/>
          </a:xfrm>
          <a:prstGeom prst="rect">
            <a:avLst/>
          </a:prstGeom>
          <a:noFill/>
        </p:spPr>
        <p:txBody>
          <a:bodyPr vert="horz" wrap="square" lIns="0" tIns="0" rIns="0" bIns="0" rtlCol="0">
            <a:spAutoFit/>
          </a:bodyPr>
          <a:lstStyle/>
          <a:p>
            <a:r>
              <a:rPr lang="en-US" sz="1100">
                <a:solidFill>
                  <a:srgbClr val="495869"/>
                </a:solidFill>
                <a:latin typeface="Arial" panose="020B0604020202020204" pitchFamily="34" charset="0"/>
              </a:rPr>
              <a:t>True Detection Rate</a:t>
            </a:r>
          </a:p>
        </p:txBody>
      </p:sp>
      <p:sp>
        <p:nvSpPr>
          <p:cNvPr id="13" name="Hình chữ nhật: Góc Tròn 12">
            <a:extLst>
              <a:ext uri="{FF2B5EF4-FFF2-40B4-BE49-F238E27FC236}">
                <a16:creationId xmlns:a16="http://schemas.microsoft.com/office/drawing/2014/main" id="{6473340A-2A69-E200-1971-2BCED5FEC522}"/>
              </a:ext>
            </a:extLst>
          </p:cNvPr>
          <p:cNvSpPr/>
          <p:nvPr/>
        </p:nvSpPr>
        <p:spPr>
          <a:xfrm>
            <a:off x="3403600" y="1511300"/>
            <a:ext cx="2489200" cy="11684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ình chữ nhật: Góc Tròn 13">
            <a:extLst>
              <a:ext uri="{FF2B5EF4-FFF2-40B4-BE49-F238E27FC236}">
                <a16:creationId xmlns:a16="http://schemas.microsoft.com/office/drawing/2014/main" id="{8AB916DF-0D07-1F64-53BE-6A2F8C09E930}"/>
              </a:ext>
            </a:extLst>
          </p:cNvPr>
          <p:cNvSpPr/>
          <p:nvPr/>
        </p:nvSpPr>
        <p:spPr>
          <a:xfrm>
            <a:off x="3403600" y="1511300"/>
            <a:ext cx="88900" cy="1168400"/>
          </a:xfrm>
          <a:prstGeom prst="round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ộp Văn bản 14">
            <a:extLst>
              <a:ext uri="{FF2B5EF4-FFF2-40B4-BE49-F238E27FC236}">
                <a16:creationId xmlns:a16="http://schemas.microsoft.com/office/drawing/2014/main" id="{1B3DF9D9-BF14-E54B-2E0C-50A9AC00A2A2}"/>
              </a:ext>
            </a:extLst>
          </p:cNvPr>
          <p:cNvSpPr txBox="1"/>
          <p:nvPr/>
        </p:nvSpPr>
        <p:spPr>
          <a:xfrm>
            <a:off x="3644900" y="1676400"/>
            <a:ext cx="2108200" cy="415498"/>
          </a:xfrm>
          <a:prstGeom prst="rect">
            <a:avLst/>
          </a:prstGeom>
          <a:noFill/>
        </p:spPr>
        <p:txBody>
          <a:bodyPr vert="horz" wrap="square" lIns="0" tIns="0" rIns="0" bIns="0" rtlCol="0">
            <a:spAutoFit/>
          </a:bodyPr>
          <a:lstStyle/>
          <a:p>
            <a:r>
              <a:rPr lang="en-US" sz="2700" b="1">
                <a:solidFill>
                  <a:srgbClr val="00796B"/>
                </a:solidFill>
                <a:latin typeface="Arial" panose="020B0604020202020204" pitchFamily="34" charset="0"/>
              </a:rPr>
              <a:t>0%</a:t>
            </a:r>
          </a:p>
        </p:txBody>
      </p:sp>
      <p:sp>
        <p:nvSpPr>
          <p:cNvPr id="16" name="Hộp Văn bản 15">
            <a:extLst>
              <a:ext uri="{FF2B5EF4-FFF2-40B4-BE49-F238E27FC236}">
                <a16:creationId xmlns:a16="http://schemas.microsoft.com/office/drawing/2014/main" id="{8E30C134-EBDA-C9D3-AA23-A0671E5AF0BB}"/>
              </a:ext>
            </a:extLst>
          </p:cNvPr>
          <p:cNvSpPr txBox="1"/>
          <p:nvPr/>
        </p:nvSpPr>
        <p:spPr>
          <a:xfrm>
            <a:off x="3644900" y="2222500"/>
            <a:ext cx="2108200" cy="169277"/>
          </a:xfrm>
          <a:prstGeom prst="rect">
            <a:avLst/>
          </a:prstGeom>
          <a:noFill/>
        </p:spPr>
        <p:txBody>
          <a:bodyPr vert="horz" wrap="square" lIns="0" tIns="0" rIns="0" bIns="0" rtlCol="0">
            <a:spAutoFit/>
          </a:bodyPr>
          <a:lstStyle/>
          <a:p>
            <a:r>
              <a:rPr lang="en-US" sz="1100">
                <a:solidFill>
                  <a:srgbClr val="495869"/>
                </a:solidFill>
                <a:latin typeface="Arial" panose="020B0604020202020204" pitchFamily="34" charset="0"/>
              </a:rPr>
              <a:t>False Alarm Rate</a:t>
            </a:r>
          </a:p>
        </p:txBody>
      </p:sp>
      <p:sp>
        <p:nvSpPr>
          <p:cNvPr id="17" name="Hình chữ nhật: Góc Tròn 16">
            <a:extLst>
              <a:ext uri="{FF2B5EF4-FFF2-40B4-BE49-F238E27FC236}">
                <a16:creationId xmlns:a16="http://schemas.microsoft.com/office/drawing/2014/main" id="{3AFC4DBB-07F3-D7D7-7DE1-4F89C7E9EA02}"/>
              </a:ext>
            </a:extLst>
          </p:cNvPr>
          <p:cNvSpPr/>
          <p:nvPr/>
        </p:nvSpPr>
        <p:spPr>
          <a:xfrm>
            <a:off x="6197600" y="1511300"/>
            <a:ext cx="2489200" cy="11684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ình chữ nhật: Góc Tròn 17">
            <a:extLst>
              <a:ext uri="{FF2B5EF4-FFF2-40B4-BE49-F238E27FC236}">
                <a16:creationId xmlns:a16="http://schemas.microsoft.com/office/drawing/2014/main" id="{8938E9E2-D4A4-68E5-001A-F82271383995}"/>
              </a:ext>
            </a:extLst>
          </p:cNvPr>
          <p:cNvSpPr/>
          <p:nvPr/>
        </p:nvSpPr>
        <p:spPr>
          <a:xfrm>
            <a:off x="6197600" y="1511300"/>
            <a:ext cx="88900" cy="1168400"/>
          </a:xfrm>
          <a:prstGeom prst="roundRect">
            <a:avLst/>
          </a:prstGeom>
          <a:solidFill>
            <a:srgbClr val="2F6B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Hộp Văn bản 18">
            <a:extLst>
              <a:ext uri="{FF2B5EF4-FFF2-40B4-BE49-F238E27FC236}">
                <a16:creationId xmlns:a16="http://schemas.microsoft.com/office/drawing/2014/main" id="{FFBEA701-86F8-A53C-5EE2-691EB38627A1}"/>
              </a:ext>
            </a:extLst>
          </p:cNvPr>
          <p:cNvSpPr txBox="1"/>
          <p:nvPr/>
        </p:nvSpPr>
        <p:spPr>
          <a:xfrm>
            <a:off x="6438900" y="1676400"/>
            <a:ext cx="2108200" cy="415498"/>
          </a:xfrm>
          <a:prstGeom prst="rect">
            <a:avLst/>
          </a:prstGeom>
          <a:noFill/>
        </p:spPr>
        <p:txBody>
          <a:bodyPr vert="horz" wrap="square" lIns="0" tIns="0" rIns="0" bIns="0" rtlCol="0">
            <a:spAutoFit/>
          </a:bodyPr>
          <a:lstStyle/>
          <a:p>
            <a:r>
              <a:rPr lang="en-US" sz="2700" b="1">
                <a:solidFill>
                  <a:srgbClr val="2F6BFF"/>
                </a:solidFill>
                <a:latin typeface="Arial" panose="020B0604020202020204" pitchFamily="34" charset="0"/>
              </a:rPr>
              <a:t>100%</a:t>
            </a:r>
          </a:p>
        </p:txBody>
      </p:sp>
      <p:sp>
        <p:nvSpPr>
          <p:cNvPr id="20" name="Hộp Văn bản 19">
            <a:extLst>
              <a:ext uri="{FF2B5EF4-FFF2-40B4-BE49-F238E27FC236}">
                <a16:creationId xmlns:a16="http://schemas.microsoft.com/office/drawing/2014/main" id="{8C316F7D-AB9B-2534-503F-F1F02A03AB1A}"/>
              </a:ext>
            </a:extLst>
          </p:cNvPr>
          <p:cNvSpPr txBox="1"/>
          <p:nvPr/>
        </p:nvSpPr>
        <p:spPr>
          <a:xfrm>
            <a:off x="6438900" y="2222500"/>
            <a:ext cx="2108200" cy="169277"/>
          </a:xfrm>
          <a:prstGeom prst="rect">
            <a:avLst/>
          </a:prstGeom>
          <a:noFill/>
        </p:spPr>
        <p:txBody>
          <a:bodyPr vert="horz" wrap="square" lIns="0" tIns="0" rIns="0" bIns="0" rtlCol="0">
            <a:spAutoFit/>
          </a:bodyPr>
          <a:lstStyle/>
          <a:p>
            <a:r>
              <a:rPr lang="en-US" sz="1100">
                <a:solidFill>
                  <a:srgbClr val="495869"/>
                </a:solidFill>
                <a:latin typeface="Arial" panose="020B0604020202020204" pitchFamily="34" charset="0"/>
              </a:rPr>
              <a:t>Data continuity</a:t>
            </a:r>
          </a:p>
        </p:txBody>
      </p:sp>
      <p:sp>
        <p:nvSpPr>
          <p:cNvPr id="21" name="Hình chữ nhật: Góc Tròn 20">
            <a:extLst>
              <a:ext uri="{FF2B5EF4-FFF2-40B4-BE49-F238E27FC236}">
                <a16:creationId xmlns:a16="http://schemas.microsoft.com/office/drawing/2014/main" id="{4EBAE216-B18E-0091-D537-4AAC5E692D27}"/>
              </a:ext>
            </a:extLst>
          </p:cNvPr>
          <p:cNvSpPr/>
          <p:nvPr/>
        </p:nvSpPr>
        <p:spPr>
          <a:xfrm>
            <a:off x="8991600" y="1511300"/>
            <a:ext cx="2590800" cy="1168400"/>
          </a:xfrm>
          <a:prstGeom prst="roundRect">
            <a:avLst/>
          </a:prstGeom>
          <a:solidFill>
            <a:srgbClr val="FFFFFF"/>
          </a:solidFill>
          <a:ln w="12700">
            <a:solidFill>
              <a:srgbClr val="DCE2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Hình chữ nhật: Góc Tròn 21">
            <a:extLst>
              <a:ext uri="{FF2B5EF4-FFF2-40B4-BE49-F238E27FC236}">
                <a16:creationId xmlns:a16="http://schemas.microsoft.com/office/drawing/2014/main" id="{6C679D44-400B-EF98-6F02-D6A3BCCD7A27}"/>
              </a:ext>
            </a:extLst>
          </p:cNvPr>
          <p:cNvSpPr/>
          <p:nvPr/>
        </p:nvSpPr>
        <p:spPr>
          <a:xfrm>
            <a:off x="8991600" y="1511300"/>
            <a:ext cx="88900" cy="1168400"/>
          </a:xfrm>
          <a:prstGeom prst="roundRect">
            <a:avLst/>
          </a:prstGeom>
          <a:solidFill>
            <a:srgbClr val="F4A62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Hộp Văn bản 22">
            <a:extLst>
              <a:ext uri="{FF2B5EF4-FFF2-40B4-BE49-F238E27FC236}">
                <a16:creationId xmlns:a16="http://schemas.microsoft.com/office/drawing/2014/main" id="{5AA92F85-B58F-F53A-DC8E-117A75EF02D0}"/>
              </a:ext>
            </a:extLst>
          </p:cNvPr>
          <p:cNvSpPr txBox="1"/>
          <p:nvPr/>
        </p:nvSpPr>
        <p:spPr>
          <a:xfrm>
            <a:off x="9232900" y="1676400"/>
            <a:ext cx="2209800" cy="415498"/>
          </a:xfrm>
          <a:prstGeom prst="rect">
            <a:avLst/>
          </a:prstGeom>
          <a:noFill/>
        </p:spPr>
        <p:txBody>
          <a:bodyPr vert="horz" wrap="square" lIns="0" tIns="0" rIns="0" bIns="0" rtlCol="0">
            <a:spAutoFit/>
          </a:bodyPr>
          <a:lstStyle/>
          <a:p>
            <a:r>
              <a:rPr lang="en-US" sz="2700" b="1">
                <a:solidFill>
                  <a:srgbClr val="F4A621"/>
                </a:solidFill>
                <a:latin typeface="Arial" panose="020B0604020202020204" pitchFamily="34" charset="0"/>
              </a:rPr>
              <a:t>172 ms</a:t>
            </a:r>
          </a:p>
        </p:txBody>
      </p:sp>
      <p:sp>
        <p:nvSpPr>
          <p:cNvPr id="24" name="Hộp Văn bản 23">
            <a:extLst>
              <a:ext uri="{FF2B5EF4-FFF2-40B4-BE49-F238E27FC236}">
                <a16:creationId xmlns:a16="http://schemas.microsoft.com/office/drawing/2014/main" id="{7CAC1FAF-B8C1-0195-9E0A-9E347D743008}"/>
              </a:ext>
            </a:extLst>
          </p:cNvPr>
          <p:cNvSpPr txBox="1"/>
          <p:nvPr/>
        </p:nvSpPr>
        <p:spPr>
          <a:xfrm>
            <a:off x="9232900" y="2222500"/>
            <a:ext cx="2209800" cy="169277"/>
          </a:xfrm>
          <a:prstGeom prst="rect">
            <a:avLst/>
          </a:prstGeom>
          <a:noFill/>
        </p:spPr>
        <p:txBody>
          <a:bodyPr vert="horz" wrap="square" lIns="0" tIns="0" rIns="0" bIns="0" rtlCol="0">
            <a:spAutoFit/>
          </a:bodyPr>
          <a:lstStyle/>
          <a:p>
            <a:r>
              <a:rPr lang="en-US" sz="1100">
                <a:solidFill>
                  <a:srgbClr val="495869"/>
                </a:solidFill>
                <a:latin typeface="Arial" panose="020B0604020202020204" pitchFamily="34" charset="0"/>
              </a:rPr>
              <a:t>Median latency</a:t>
            </a:r>
          </a:p>
        </p:txBody>
      </p:sp>
      <p:sp>
        <p:nvSpPr>
          <p:cNvPr id="25" name="Hình chữ nhật: Góc Tròn 24">
            <a:extLst>
              <a:ext uri="{FF2B5EF4-FFF2-40B4-BE49-F238E27FC236}">
                <a16:creationId xmlns:a16="http://schemas.microsoft.com/office/drawing/2014/main" id="{423B8031-4593-60AC-CE86-221886AF8261}"/>
              </a:ext>
            </a:extLst>
          </p:cNvPr>
          <p:cNvSpPr/>
          <p:nvPr/>
        </p:nvSpPr>
        <p:spPr>
          <a:xfrm>
            <a:off x="609600" y="2946400"/>
            <a:ext cx="10972800" cy="2984500"/>
          </a:xfrm>
          <a:prstGeom prst="roundRect">
            <a:avLst/>
          </a:prstGeom>
          <a:solidFill>
            <a:srgbClr val="F6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Hình ảnh 26">
            <a:extLst>
              <a:ext uri="{FF2B5EF4-FFF2-40B4-BE49-F238E27FC236}">
                <a16:creationId xmlns:a16="http://schemas.microsoft.com/office/drawing/2014/main" id="{22ACEA96-86C2-DBF7-CBCD-FAB9F2C2527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913809" y="3098800"/>
            <a:ext cx="4364382" cy="2641600"/>
          </a:xfrm>
          <a:prstGeom prst="rect">
            <a:avLst/>
          </a:prstGeom>
        </p:spPr>
      </p:pic>
      <p:sp>
        <p:nvSpPr>
          <p:cNvPr id="28" name="Hộp Văn bản 27">
            <a:extLst>
              <a:ext uri="{FF2B5EF4-FFF2-40B4-BE49-F238E27FC236}">
                <a16:creationId xmlns:a16="http://schemas.microsoft.com/office/drawing/2014/main" id="{A5E1A735-C9BE-C9C7-C0B2-45E1090111C9}"/>
              </a:ext>
            </a:extLst>
          </p:cNvPr>
          <p:cNvSpPr txBox="1"/>
          <p:nvPr/>
        </p:nvSpPr>
        <p:spPr>
          <a:xfrm>
            <a:off x="1016000" y="5689600"/>
            <a:ext cx="10160000" cy="169277"/>
          </a:xfrm>
          <a:prstGeom prst="rect">
            <a:avLst/>
          </a:prstGeom>
          <a:noFill/>
        </p:spPr>
        <p:txBody>
          <a:bodyPr vert="horz" wrap="square" lIns="0" tIns="0" rIns="0" bIns="0" rtlCol="0">
            <a:spAutoFit/>
          </a:bodyPr>
          <a:lstStyle/>
          <a:p>
            <a:pPr algn="ctr"/>
            <a:r>
              <a:rPr lang="en-US" sz="1100">
                <a:solidFill>
                  <a:srgbClr val="495869"/>
                </a:solidFill>
                <a:latin typeface="Arial" panose="020B0604020202020204" pitchFamily="34" charset="0"/>
              </a:rPr>
              <a:t>P95 9.65 s do CONNECTION_LOST chờ inactivity timeout; vẫn dưới ngưỡng 15 s.</a:t>
            </a:r>
          </a:p>
        </p:txBody>
      </p:sp>
    </p:spTree>
    <p:extLst>
      <p:ext uri="{BB962C8B-B14F-4D97-AF65-F5344CB8AC3E}">
        <p14:creationId xmlns:p14="http://schemas.microsoft.com/office/powerpoint/2010/main" val="4238365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a:extLst>
              <a:ext uri="{FF2B5EF4-FFF2-40B4-BE49-F238E27FC236}">
                <a16:creationId xmlns:a16="http://schemas.microsoft.com/office/drawing/2014/main" id="{216AE4DD-D6EE-04B6-4D03-04248C3AFEDE}"/>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Hình chữ nhật 2">
            <a:extLst>
              <a:ext uri="{FF2B5EF4-FFF2-40B4-BE49-F238E27FC236}">
                <a16:creationId xmlns:a16="http://schemas.microsoft.com/office/drawing/2014/main" id="{E219A19E-2540-0F1F-1D7D-6D8BD1FA9BFA}"/>
              </a:ext>
            </a:extLst>
          </p:cNvPr>
          <p:cNvSpPr/>
          <p:nvPr/>
        </p:nvSpPr>
        <p:spPr>
          <a:xfrm>
            <a:off x="0" y="0"/>
            <a:ext cx="12192000" cy="101600"/>
          </a:xfrm>
          <a:prstGeom prst="rect">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ộp Văn bản 3">
            <a:extLst>
              <a:ext uri="{FF2B5EF4-FFF2-40B4-BE49-F238E27FC236}">
                <a16:creationId xmlns:a16="http://schemas.microsoft.com/office/drawing/2014/main" id="{295E1331-B45E-FF00-3F07-4A4960E85CC6}"/>
              </a:ext>
            </a:extLst>
          </p:cNvPr>
          <p:cNvSpPr txBox="1"/>
          <p:nvPr/>
        </p:nvSpPr>
        <p:spPr>
          <a:xfrm>
            <a:off x="609600" y="342900"/>
            <a:ext cx="8255000" cy="153888"/>
          </a:xfrm>
          <a:prstGeom prst="rect">
            <a:avLst/>
          </a:prstGeom>
          <a:noFill/>
        </p:spPr>
        <p:txBody>
          <a:bodyPr vert="horz" wrap="square" lIns="0" tIns="0" rIns="0" bIns="0" rtlCol="0">
            <a:spAutoFit/>
          </a:bodyPr>
          <a:lstStyle/>
          <a:p>
            <a:r>
              <a:rPr lang="en-US" sz="1000" b="1">
                <a:solidFill>
                  <a:srgbClr val="00796B"/>
                </a:solidFill>
                <a:latin typeface="Arial" panose="020B0604020202020204" pitchFamily="34" charset="0"/>
              </a:rPr>
              <a:t>15 · HANDOFF</a:t>
            </a:r>
          </a:p>
        </p:txBody>
      </p:sp>
      <p:sp>
        <p:nvSpPr>
          <p:cNvPr id="5" name="Hộp Văn bản 4">
            <a:extLst>
              <a:ext uri="{FF2B5EF4-FFF2-40B4-BE49-F238E27FC236}">
                <a16:creationId xmlns:a16="http://schemas.microsoft.com/office/drawing/2014/main" id="{ABE551C7-15D3-2A56-CBC8-D70A5D4FB812}"/>
              </a:ext>
            </a:extLst>
          </p:cNvPr>
          <p:cNvSpPr txBox="1"/>
          <p:nvPr/>
        </p:nvSpPr>
        <p:spPr>
          <a:xfrm>
            <a:off x="609600" y="622300"/>
            <a:ext cx="10795000" cy="430887"/>
          </a:xfrm>
          <a:prstGeom prst="rect">
            <a:avLst/>
          </a:prstGeom>
          <a:noFill/>
        </p:spPr>
        <p:txBody>
          <a:bodyPr vert="horz" wrap="square" lIns="0" tIns="0" rIns="0" bIns="0" rtlCol="0">
            <a:spAutoFit/>
          </a:bodyPr>
          <a:lstStyle/>
          <a:p>
            <a:r>
              <a:rPr lang="en-US" sz="2800" b="1">
                <a:solidFill>
                  <a:srgbClr val="141E30"/>
                </a:solidFill>
                <a:latin typeface="Arial" panose="020B0604020202020204" pitchFamily="34" charset="0"/>
              </a:rPr>
              <a:t>Kết luận và demo</a:t>
            </a:r>
          </a:p>
        </p:txBody>
      </p:sp>
      <p:sp>
        <p:nvSpPr>
          <p:cNvPr id="6" name="Hình chữ nhật 5">
            <a:extLst>
              <a:ext uri="{FF2B5EF4-FFF2-40B4-BE49-F238E27FC236}">
                <a16:creationId xmlns:a16="http://schemas.microsoft.com/office/drawing/2014/main" id="{77DF880A-3315-BFEB-0FEA-96EAB1DB1751}"/>
              </a:ext>
            </a:extLst>
          </p:cNvPr>
          <p:cNvSpPr/>
          <p:nvPr/>
        </p:nvSpPr>
        <p:spPr>
          <a:xfrm>
            <a:off x="609600" y="6515100"/>
            <a:ext cx="10972800" cy="12700"/>
          </a:xfrm>
          <a:prstGeom prst="rect">
            <a:avLst/>
          </a:prstGeom>
          <a:solidFill>
            <a:srgbClr val="DCE2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ộp Văn bản 6">
            <a:extLst>
              <a:ext uri="{FF2B5EF4-FFF2-40B4-BE49-F238E27FC236}">
                <a16:creationId xmlns:a16="http://schemas.microsoft.com/office/drawing/2014/main" id="{0EBBABB1-EF6F-CD88-6C4E-1130DD2EE948}"/>
              </a:ext>
            </a:extLst>
          </p:cNvPr>
          <p:cNvSpPr txBox="1"/>
          <p:nvPr/>
        </p:nvSpPr>
        <p:spPr>
          <a:xfrm>
            <a:off x="609600" y="6578600"/>
            <a:ext cx="6858000" cy="123111"/>
          </a:xfrm>
          <a:prstGeom prst="rect">
            <a:avLst/>
          </a:prstGeom>
          <a:noFill/>
        </p:spPr>
        <p:txBody>
          <a:bodyPr vert="horz" wrap="square" lIns="0" tIns="0" rIns="0" bIns="0" rtlCol="0">
            <a:spAutoFit/>
          </a:bodyPr>
          <a:lstStyle/>
          <a:p>
            <a:r>
              <a:rPr lang="en-US" sz="800" b="1">
                <a:solidFill>
                  <a:srgbClr val="708090"/>
                </a:solidFill>
                <a:latin typeface="Arial" panose="020B0604020202020204" pitchFamily="34" charset="0"/>
              </a:rPr>
              <a:t>DIGITAL TWIN KHO BẢO QUẢN RAU QUẢ</a:t>
            </a:r>
          </a:p>
        </p:txBody>
      </p:sp>
      <p:sp>
        <p:nvSpPr>
          <p:cNvPr id="8" name="Hộp Văn bản 7">
            <a:extLst>
              <a:ext uri="{FF2B5EF4-FFF2-40B4-BE49-F238E27FC236}">
                <a16:creationId xmlns:a16="http://schemas.microsoft.com/office/drawing/2014/main" id="{540700A0-59AE-A5B4-DE75-BF834BAE4877}"/>
              </a:ext>
            </a:extLst>
          </p:cNvPr>
          <p:cNvSpPr txBox="1"/>
          <p:nvPr/>
        </p:nvSpPr>
        <p:spPr>
          <a:xfrm>
            <a:off x="11049000" y="6553200"/>
            <a:ext cx="533400" cy="138499"/>
          </a:xfrm>
          <a:prstGeom prst="rect">
            <a:avLst/>
          </a:prstGeom>
          <a:noFill/>
        </p:spPr>
        <p:txBody>
          <a:bodyPr vert="horz" wrap="square" lIns="0" tIns="0" rIns="0" bIns="0" rtlCol="0">
            <a:spAutoFit/>
          </a:bodyPr>
          <a:lstStyle/>
          <a:p>
            <a:pPr algn="r"/>
            <a:r>
              <a:rPr lang="en-US" sz="900" b="1">
                <a:solidFill>
                  <a:srgbClr val="00796B"/>
                </a:solidFill>
                <a:latin typeface="Arial" panose="020B0604020202020204" pitchFamily="34" charset="0"/>
              </a:rPr>
              <a:t>16</a:t>
            </a:r>
          </a:p>
        </p:txBody>
      </p:sp>
      <p:sp>
        <p:nvSpPr>
          <p:cNvPr id="9" name="Hình chữ nhật: Góc Tròn 8">
            <a:extLst>
              <a:ext uri="{FF2B5EF4-FFF2-40B4-BE49-F238E27FC236}">
                <a16:creationId xmlns:a16="http://schemas.microsoft.com/office/drawing/2014/main" id="{B39319A5-B9B4-4D4E-74EF-9C7D7A508190}"/>
              </a:ext>
            </a:extLst>
          </p:cNvPr>
          <p:cNvSpPr/>
          <p:nvPr/>
        </p:nvSpPr>
        <p:spPr>
          <a:xfrm>
            <a:off x="609600" y="1524000"/>
            <a:ext cx="6680200" cy="4318000"/>
          </a:xfrm>
          <a:prstGeom prst="roundRect">
            <a:avLst/>
          </a:prstGeom>
          <a:solidFill>
            <a:srgbClr val="141E3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ộp Văn bản 9">
            <a:extLst>
              <a:ext uri="{FF2B5EF4-FFF2-40B4-BE49-F238E27FC236}">
                <a16:creationId xmlns:a16="http://schemas.microsoft.com/office/drawing/2014/main" id="{8DD4E713-4378-F74A-F53F-E47940917EB7}"/>
              </a:ext>
            </a:extLst>
          </p:cNvPr>
          <p:cNvSpPr txBox="1"/>
          <p:nvPr/>
        </p:nvSpPr>
        <p:spPr>
          <a:xfrm>
            <a:off x="990600" y="1879600"/>
            <a:ext cx="3556000" cy="338554"/>
          </a:xfrm>
          <a:prstGeom prst="rect">
            <a:avLst/>
          </a:prstGeom>
          <a:noFill/>
        </p:spPr>
        <p:txBody>
          <a:bodyPr vert="horz" wrap="square" lIns="0" tIns="0" rIns="0" bIns="0" rtlCol="0">
            <a:spAutoFit/>
          </a:bodyPr>
          <a:lstStyle/>
          <a:p>
            <a:r>
              <a:rPr lang="en-US" sz="2200" b="1">
                <a:solidFill>
                  <a:srgbClr val="E3F2F0"/>
                </a:solidFill>
                <a:latin typeface="Arial" panose="020B0604020202020204" pitchFamily="34" charset="0"/>
              </a:rPr>
              <a:t>Đã hoàn thành</a:t>
            </a:r>
          </a:p>
        </p:txBody>
      </p:sp>
      <p:sp>
        <p:nvSpPr>
          <p:cNvPr id="11" name="Hình Bầu dục 10">
            <a:extLst>
              <a:ext uri="{FF2B5EF4-FFF2-40B4-BE49-F238E27FC236}">
                <a16:creationId xmlns:a16="http://schemas.microsoft.com/office/drawing/2014/main" id="{451F87CF-BA9F-C6E7-06CA-411DF34459F7}"/>
              </a:ext>
            </a:extLst>
          </p:cNvPr>
          <p:cNvSpPr/>
          <p:nvPr/>
        </p:nvSpPr>
        <p:spPr>
          <a:xfrm>
            <a:off x="990600" y="26797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ộp Văn bản 11">
            <a:extLst>
              <a:ext uri="{FF2B5EF4-FFF2-40B4-BE49-F238E27FC236}">
                <a16:creationId xmlns:a16="http://schemas.microsoft.com/office/drawing/2014/main" id="{64588761-250F-2EEC-1975-3167CD63E4C6}"/>
              </a:ext>
            </a:extLst>
          </p:cNvPr>
          <p:cNvSpPr txBox="1"/>
          <p:nvPr/>
        </p:nvSpPr>
        <p:spPr>
          <a:xfrm>
            <a:off x="1244600" y="2590800"/>
            <a:ext cx="5435600" cy="246221"/>
          </a:xfrm>
          <a:prstGeom prst="rect">
            <a:avLst/>
          </a:prstGeom>
          <a:noFill/>
        </p:spPr>
        <p:txBody>
          <a:bodyPr vert="horz" wrap="square" lIns="0" tIns="0" rIns="0" bIns="0" rtlCol="0">
            <a:spAutoFit/>
          </a:bodyPr>
          <a:lstStyle/>
          <a:p>
            <a:r>
              <a:rPr lang="en-US" sz="1600">
                <a:solidFill>
                  <a:srgbClr val="FFFFFF"/>
                </a:solidFill>
                <a:latin typeface="Arial" panose="020B0604020202020204" pitchFamily="34" charset="0"/>
              </a:rPr>
              <a:t>Digital Twin Asset–Device–Relation chạy local</a:t>
            </a:r>
          </a:p>
        </p:txBody>
      </p:sp>
      <p:sp>
        <p:nvSpPr>
          <p:cNvPr id="13" name="Hình Bầu dục 12">
            <a:extLst>
              <a:ext uri="{FF2B5EF4-FFF2-40B4-BE49-F238E27FC236}">
                <a16:creationId xmlns:a16="http://schemas.microsoft.com/office/drawing/2014/main" id="{DCACD48D-A960-1E40-7D14-D54BC451171B}"/>
              </a:ext>
            </a:extLst>
          </p:cNvPr>
          <p:cNvSpPr/>
          <p:nvPr/>
        </p:nvSpPr>
        <p:spPr>
          <a:xfrm>
            <a:off x="990600" y="33655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ộp Văn bản 13">
            <a:extLst>
              <a:ext uri="{FF2B5EF4-FFF2-40B4-BE49-F238E27FC236}">
                <a16:creationId xmlns:a16="http://schemas.microsoft.com/office/drawing/2014/main" id="{3A20E168-32B2-A9A9-323D-97D24AA8F0DA}"/>
              </a:ext>
            </a:extLst>
          </p:cNvPr>
          <p:cNvSpPr txBox="1"/>
          <p:nvPr/>
        </p:nvSpPr>
        <p:spPr>
          <a:xfrm>
            <a:off x="1244600" y="3276600"/>
            <a:ext cx="5435600" cy="246221"/>
          </a:xfrm>
          <a:prstGeom prst="rect">
            <a:avLst/>
          </a:prstGeom>
          <a:noFill/>
        </p:spPr>
        <p:txBody>
          <a:bodyPr vert="horz" wrap="square" lIns="0" tIns="0" rIns="0" bIns="0" rtlCol="0">
            <a:spAutoFit/>
          </a:bodyPr>
          <a:lstStyle/>
          <a:p>
            <a:r>
              <a:rPr lang="en-US" sz="1600">
                <a:solidFill>
                  <a:srgbClr val="FFFFFF"/>
                </a:solidFill>
                <a:latin typeface="Arial" panose="020B0604020202020204" pitchFamily="34" charset="0"/>
              </a:rPr>
              <a:t>State machine, anomaly, alarm và 19 widget</a:t>
            </a:r>
          </a:p>
        </p:txBody>
      </p:sp>
      <p:sp>
        <p:nvSpPr>
          <p:cNvPr id="15" name="Hình Bầu dục 14">
            <a:extLst>
              <a:ext uri="{FF2B5EF4-FFF2-40B4-BE49-F238E27FC236}">
                <a16:creationId xmlns:a16="http://schemas.microsoft.com/office/drawing/2014/main" id="{5C267659-0944-328F-72F3-E5C0E2E77E8B}"/>
              </a:ext>
            </a:extLst>
          </p:cNvPr>
          <p:cNvSpPr/>
          <p:nvPr/>
        </p:nvSpPr>
        <p:spPr>
          <a:xfrm>
            <a:off x="990600" y="40513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ộp Văn bản 15">
            <a:extLst>
              <a:ext uri="{FF2B5EF4-FFF2-40B4-BE49-F238E27FC236}">
                <a16:creationId xmlns:a16="http://schemas.microsoft.com/office/drawing/2014/main" id="{A51EBBAE-C357-FD0B-9B42-F3831623C55C}"/>
              </a:ext>
            </a:extLst>
          </p:cNvPr>
          <p:cNvSpPr txBox="1"/>
          <p:nvPr/>
        </p:nvSpPr>
        <p:spPr>
          <a:xfrm>
            <a:off x="1244600" y="3962400"/>
            <a:ext cx="5435600" cy="246221"/>
          </a:xfrm>
          <a:prstGeom prst="rect">
            <a:avLst/>
          </a:prstGeom>
          <a:noFill/>
        </p:spPr>
        <p:txBody>
          <a:bodyPr vert="horz" wrap="square" lIns="0" tIns="0" rIns="0" bIns="0" rtlCol="0">
            <a:spAutoFit/>
          </a:bodyPr>
          <a:lstStyle/>
          <a:p>
            <a:r>
              <a:rPr lang="en-US" sz="1600">
                <a:solidFill>
                  <a:srgbClr val="FFFFFF"/>
                </a:solidFill>
                <a:latin typeface="Arial" panose="020B0604020202020204" pitchFamily="34" charset="0"/>
              </a:rPr>
              <a:t>RPC LED hai chiều với telemetry feedback</a:t>
            </a:r>
          </a:p>
        </p:txBody>
      </p:sp>
      <p:sp>
        <p:nvSpPr>
          <p:cNvPr id="17" name="Hình Bầu dục 16">
            <a:extLst>
              <a:ext uri="{FF2B5EF4-FFF2-40B4-BE49-F238E27FC236}">
                <a16:creationId xmlns:a16="http://schemas.microsoft.com/office/drawing/2014/main" id="{828081C4-AF69-46A3-7A66-A4F15E81A831}"/>
              </a:ext>
            </a:extLst>
          </p:cNvPr>
          <p:cNvSpPr/>
          <p:nvPr/>
        </p:nvSpPr>
        <p:spPr>
          <a:xfrm>
            <a:off x="990600" y="4737100"/>
            <a:ext cx="114300" cy="114300"/>
          </a:xfrm>
          <a:prstGeom prst="ellipse">
            <a:avLst/>
          </a:prstGeom>
          <a:solidFill>
            <a:srgbClr val="0079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ộp Văn bản 17">
            <a:extLst>
              <a:ext uri="{FF2B5EF4-FFF2-40B4-BE49-F238E27FC236}">
                <a16:creationId xmlns:a16="http://schemas.microsoft.com/office/drawing/2014/main" id="{68135C82-E145-C1E2-1530-5F11CBD6D9F7}"/>
              </a:ext>
            </a:extLst>
          </p:cNvPr>
          <p:cNvSpPr txBox="1"/>
          <p:nvPr/>
        </p:nvSpPr>
        <p:spPr>
          <a:xfrm>
            <a:off x="1244600" y="4648200"/>
            <a:ext cx="5435600" cy="246221"/>
          </a:xfrm>
          <a:prstGeom prst="rect">
            <a:avLst/>
          </a:prstGeom>
          <a:noFill/>
        </p:spPr>
        <p:txBody>
          <a:bodyPr vert="horz" wrap="square" lIns="0" tIns="0" rIns="0" bIns="0" rtlCol="0">
            <a:spAutoFit/>
          </a:bodyPr>
          <a:lstStyle/>
          <a:p>
            <a:r>
              <a:rPr lang="en-US" sz="1600">
                <a:solidFill>
                  <a:srgbClr val="FFFFFF"/>
                </a:solidFill>
                <a:latin typeface="Arial" panose="020B0604020202020204" pitchFamily="34" charset="0"/>
              </a:rPr>
              <a:t>Bộ test, báo cáo và source có thể tái tạo</a:t>
            </a:r>
          </a:p>
        </p:txBody>
      </p:sp>
      <p:sp>
        <p:nvSpPr>
          <p:cNvPr id="19" name="Hình chữ nhật: Góc Tròn 18">
            <a:extLst>
              <a:ext uri="{FF2B5EF4-FFF2-40B4-BE49-F238E27FC236}">
                <a16:creationId xmlns:a16="http://schemas.microsoft.com/office/drawing/2014/main" id="{585D1759-8611-FE1D-3CE3-BACF47782763}"/>
              </a:ext>
            </a:extLst>
          </p:cNvPr>
          <p:cNvSpPr/>
          <p:nvPr/>
        </p:nvSpPr>
        <p:spPr>
          <a:xfrm>
            <a:off x="7620000" y="1524000"/>
            <a:ext cx="3962400" cy="4318000"/>
          </a:xfrm>
          <a:prstGeom prst="roundRect">
            <a:avLst/>
          </a:prstGeom>
          <a:solidFill>
            <a:srgbClr val="E3F2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ộp Văn bản 19">
            <a:extLst>
              <a:ext uri="{FF2B5EF4-FFF2-40B4-BE49-F238E27FC236}">
                <a16:creationId xmlns:a16="http://schemas.microsoft.com/office/drawing/2014/main" id="{B072FD57-D264-538F-753C-BC39B53FD338}"/>
              </a:ext>
            </a:extLst>
          </p:cNvPr>
          <p:cNvSpPr txBox="1"/>
          <p:nvPr/>
        </p:nvSpPr>
        <p:spPr>
          <a:xfrm>
            <a:off x="7950200" y="1879600"/>
            <a:ext cx="2794000" cy="307777"/>
          </a:xfrm>
          <a:prstGeom prst="rect">
            <a:avLst/>
          </a:prstGeom>
          <a:noFill/>
        </p:spPr>
        <p:txBody>
          <a:bodyPr vert="horz" wrap="square" lIns="0" tIns="0" rIns="0" bIns="0" rtlCol="0">
            <a:spAutoFit/>
          </a:bodyPr>
          <a:lstStyle/>
          <a:p>
            <a:r>
              <a:rPr lang="vi-VN" sz="2000" b="1">
                <a:solidFill>
                  <a:srgbClr val="004D46"/>
                </a:solidFill>
                <a:latin typeface="Arial" panose="020B0604020202020204" pitchFamily="34" charset="0"/>
              </a:rPr>
              <a:t>Demo 4 bước</a:t>
            </a:r>
            <a:endParaRPr lang="en-US" sz="2000" b="1">
              <a:solidFill>
                <a:srgbClr val="004D46"/>
              </a:solidFill>
              <a:latin typeface="Arial" panose="020B0604020202020204" pitchFamily="34" charset="0"/>
            </a:endParaRPr>
          </a:p>
        </p:txBody>
      </p:sp>
      <p:sp>
        <p:nvSpPr>
          <p:cNvPr id="21" name="Hộp Văn bản 20">
            <a:extLst>
              <a:ext uri="{FF2B5EF4-FFF2-40B4-BE49-F238E27FC236}">
                <a16:creationId xmlns:a16="http://schemas.microsoft.com/office/drawing/2014/main" id="{7325C600-8E42-B90F-35D0-3D4C640A8300}"/>
              </a:ext>
            </a:extLst>
          </p:cNvPr>
          <p:cNvSpPr txBox="1"/>
          <p:nvPr/>
        </p:nvSpPr>
        <p:spPr>
          <a:xfrm>
            <a:off x="7950200" y="2641600"/>
            <a:ext cx="3048000" cy="1107996"/>
          </a:xfrm>
          <a:prstGeom prst="rect">
            <a:avLst/>
          </a:prstGeom>
          <a:noFill/>
        </p:spPr>
        <p:txBody>
          <a:bodyPr vert="horz" wrap="square" lIns="0" tIns="0" rIns="0" bIns="0" rtlCol="0">
            <a:spAutoFit/>
          </a:bodyPr>
          <a:lstStyle/>
          <a:p>
            <a:r>
              <a:rPr lang="en-US" b="1">
                <a:solidFill>
                  <a:srgbClr val="141E30"/>
                </a:solidFill>
                <a:latin typeface="Arial" panose="020B0604020202020204" pitchFamily="34" charset="0"/>
              </a:rPr>
              <a:t>01  Khởi động Docker
02  Chạy Wokwi
03  Xem Dashboard / Alarm
04  Bật tắt LED bằng RPC</a:t>
            </a:r>
          </a:p>
        </p:txBody>
      </p:sp>
      <p:sp>
        <p:nvSpPr>
          <p:cNvPr id="22" name="Hộp Văn bản 21">
            <a:extLst>
              <a:ext uri="{FF2B5EF4-FFF2-40B4-BE49-F238E27FC236}">
                <a16:creationId xmlns:a16="http://schemas.microsoft.com/office/drawing/2014/main" id="{0E34B3B6-C66A-E981-3734-F916A7E391E8}"/>
              </a:ext>
            </a:extLst>
          </p:cNvPr>
          <p:cNvSpPr txBox="1"/>
          <p:nvPr/>
        </p:nvSpPr>
        <p:spPr>
          <a:xfrm>
            <a:off x="7950200" y="4978400"/>
            <a:ext cx="3048000" cy="415498"/>
          </a:xfrm>
          <a:prstGeom prst="rect">
            <a:avLst/>
          </a:prstGeom>
          <a:noFill/>
        </p:spPr>
        <p:txBody>
          <a:bodyPr vert="horz" wrap="square" lIns="0" tIns="0" rIns="0" bIns="0" rtlCol="0">
            <a:spAutoFit/>
          </a:bodyPr>
          <a:lstStyle/>
          <a:p>
            <a:r>
              <a:rPr lang="en-US" sz="2700" b="1">
                <a:solidFill>
                  <a:srgbClr val="00796B"/>
                </a:solidFill>
                <a:latin typeface="Arial" panose="020B0604020202020204" pitchFamily="34" charset="0"/>
              </a:rPr>
              <a:t>Q &amp; A</a:t>
            </a:r>
          </a:p>
        </p:txBody>
      </p:sp>
    </p:spTree>
    <p:extLst>
      <p:ext uri="{BB962C8B-B14F-4D97-AF65-F5344CB8AC3E}">
        <p14:creationId xmlns:p14="http://schemas.microsoft.com/office/powerpoint/2010/main" val="2389905715"/>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1631</Words>
  <Application>Microsoft Office PowerPoint</Application>
  <PresentationFormat>Tùy chỉnh</PresentationFormat>
  <Paragraphs>203</Paragraphs>
  <Slides>16</Slides>
  <Notes>16</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16</vt:i4>
      </vt:variant>
    </vt:vector>
  </HeadingPairs>
  <TitlesOfParts>
    <vt:vector size="22" baseType="lpstr">
      <vt:lpstr>Arial</vt:lpstr>
      <vt:lpstr>Calibri</vt:lpstr>
      <vt:lpstr>Calibri Light</vt:lpstr>
      <vt:lpstr>Consolas</vt:lpstr>
      <vt:lpstr>Times New Roman</vt:lpstr>
      <vt:lpstr>Chủ đề Office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Auto secure</dc:creator>
  <cp:lastModifiedBy>Auto secure</cp:lastModifiedBy>
  <cp:revision>1</cp:revision>
  <dcterms:created xsi:type="dcterms:W3CDTF">2026-09-25T15:41:05Z</dcterms:created>
  <dcterms:modified xsi:type="dcterms:W3CDTF">2026-09-25T15:41:05Z</dcterms:modified>
</cp:coreProperties>
</file>